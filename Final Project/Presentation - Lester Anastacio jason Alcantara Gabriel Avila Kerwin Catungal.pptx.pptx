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Lst>
  <p:sldSz cx="18288000" cy="10287000"/>
  <p:notesSz cx="6858000" cy="9144000"/>
  <p:embeddedFontLst>
    <p:embeddedFont>
      <p:font typeface="Dynapuff Condensed" charset="1" panose="00000000000000000000"/>
      <p:regular r:id="rId15"/>
    </p:embeddedFont>
    <p:embeddedFont>
      <p:font typeface="Dynapuff SemiCondensed Bold" charset="1" panose="00000000000000000000"/>
      <p:regular r:id="rId16"/>
    </p:embeddedFont>
    <p:embeddedFont>
      <p:font typeface="Dynapuff SemiCondensed" charset="1" panose="00000000000000000000"/>
      <p:regular r:id="rId17"/>
    </p:embeddedFont>
    <p:embeddedFont>
      <p:font typeface="Dynapuff Condensed Bold" charset="1" panose="00000000000000000000"/>
      <p:regular r:id="rId1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fonts/font15.fntdata" Type="http://schemas.openxmlformats.org/officeDocument/2006/relationships/font"/><Relationship Id="rId16" Target="fonts/font16.fntdata" Type="http://schemas.openxmlformats.org/officeDocument/2006/relationships/font"/><Relationship Id="rId17" Target="fonts/font17.fntdata" Type="http://schemas.openxmlformats.org/officeDocument/2006/relationships/font"/><Relationship Id="rId18" Target="fonts/font18.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8.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8.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arget="../media/image10.svg" Type="http://schemas.openxmlformats.org/officeDocument/2006/relationships/image"/><Relationship Id="rId4" Target="../media/image11.png" Type="http://schemas.openxmlformats.org/officeDocument/2006/relationships/image"/><Relationship Id="rId5" Target="../media/image12.svg" Type="http://schemas.openxmlformats.org/officeDocument/2006/relationships/image"/><Relationship Id="rId6" Target="../media/image7.png" Type="http://schemas.openxmlformats.org/officeDocument/2006/relationships/image"/><Relationship Id="rId7" Target="../media/image8.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13.png" Type="http://schemas.openxmlformats.org/officeDocument/2006/relationships/image"/><Relationship Id="rId9" Target="../media/image14.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8.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8.svg" Type="http://schemas.openxmlformats.org/officeDocument/2006/relationships/image"/><Relationship Id="rId4" Target="../media/image15.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3.png" Type="http://schemas.openxmlformats.org/officeDocument/2006/relationships/image"/><Relationship Id="rId3" Target="../media/image14.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 Id="rId6" Target="../media/image3.png" Type="http://schemas.openxmlformats.org/officeDocument/2006/relationships/image"/><Relationship Id="rId7" Target="../media/image4.svg" Type="http://schemas.openxmlformats.org/officeDocument/2006/relationships/image"/><Relationship Id="rId8" Target="../media/image5.png" Type="http://schemas.openxmlformats.org/officeDocument/2006/relationships/image"/><Relationship Id="rId9" Target="../media/image6.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FFEFDA"/>
        </a:solidFill>
      </p:bgPr>
    </p:bg>
    <p:spTree>
      <p:nvGrpSpPr>
        <p:cNvPr id="1" name=""/>
        <p:cNvGrpSpPr/>
        <p:nvPr/>
      </p:nvGrpSpPr>
      <p:grpSpPr>
        <a:xfrm>
          <a:off x="0" y="0"/>
          <a:ext cx="0" cy="0"/>
          <a:chOff x="0" y="0"/>
          <a:chExt cx="0" cy="0"/>
        </a:xfrm>
      </p:grpSpPr>
      <p:sp>
        <p:nvSpPr>
          <p:cNvPr name="Freeform 2" id="2"/>
          <p:cNvSpPr/>
          <p:nvPr/>
        </p:nvSpPr>
        <p:spPr>
          <a:xfrm flipH="false" flipV="false" rot="0">
            <a:off x="-664261" y="6677503"/>
            <a:ext cx="6103108" cy="4114800"/>
          </a:xfrm>
          <a:custGeom>
            <a:avLst/>
            <a:gdLst/>
            <a:ahLst/>
            <a:cxnLst/>
            <a:rect r="r" b="b" t="t" l="l"/>
            <a:pathLst>
              <a:path h="4114800" w="6103108">
                <a:moveTo>
                  <a:pt x="0" y="0"/>
                </a:moveTo>
                <a:lnTo>
                  <a:pt x="6103109" y="0"/>
                </a:lnTo>
                <a:lnTo>
                  <a:pt x="6103109"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true" rot="0">
            <a:off x="12184892" y="-1028700"/>
            <a:ext cx="6103108" cy="4114800"/>
          </a:xfrm>
          <a:custGeom>
            <a:avLst/>
            <a:gdLst/>
            <a:ahLst/>
            <a:cxnLst/>
            <a:rect r="r" b="b" t="t" l="l"/>
            <a:pathLst>
              <a:path h="4114800" w="6103108">
                <a:moveTo>
                  <a:pt x="6103108" y="4114800"/>
                </a:moveTo>
                <a:lnTo>
                  <a:pt x="0" y="4114800"/>
                </a:lnTo>
                <a:lnTo>
                  <a:pt x="0" y="0"/>
                </a:lnTo>
                <a:lnTo>
                  <a:pt x="6103108" y="0"/>
                </a:lnTo>
                <a:lnTo>
                  <a:pt x="6103108" y="411480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4" id="4"/>
          <p:cNvSpPr txBox="true"/>
          <p:nvPr/>
        </p:nvSpPr>
        <p:spPr>
          <a:xfrm rot="0">
            <a:off x="4523303" y="6456139"/>
            <a:ext cx="9241395" cy="3442147"/>
          </a:xfrm>
          <a:prstGeom prst="rect">
            <a:avLst/>
          </a:prstGeom>
        </p:spPr>
        <p:txBody>
          <a:bodyPr anchor="t" rtlCol="false" tIns="0" lIns="0" bIns="0" rIns="0">
            <a:spAutoFit/>
          </a:bodyPr>
          <a:lstStyle/>
          <a:p>
            <a:pPr algn="ctr">
              <a:lnSpc>
                <a:spcPts val="5482"/>
              </a:lnSpc>
            </a:pPr>
            <a:r>
              <a:rPr lang="en-US" sz="3654" spc="109">
                <a:solidFill>
                  <a:srgbClr val="3F3E3A"/>
                </a:solidFill>
                <a:latin typeface="Dynapuff Condensed"/>
                <a:ea typeface="Dynapuff Condensed"/>
                <a:cs typeface="Dynapuff Condensed"/>
                <a:sym typeface="Dynapuff Condensed"/>
              </a:rPr>
              <a:t>Presented by: </a:t>
            </a:r>
          </a:p>
          <a:p>
            <a:pPr algn="ctr">
              <a:lnSpc>
                <a:spcPts val="5482"/>
              </a:lnSpc>
            </a:pPr>
            <a:r>
              <a:rPr lang="en-US" sz="3654" spc="109">
                <a:solidFill>
                  <a:srgbClr val="3F3E3A"/>
                </a:solidFill>
                <a:latin typeface="Dynapuff Condensed"/>
                <a:ea typeface="Dynapuff Condensed"/>
                <a:cs typeface="Dynapuff Condensed"/>
                <a:sym typeface="Dynapuff Condensed"/>
              </a:rPr>
              <a:t>Lester Anastacio</a:t>
            </a:r>
          </a:p>
          <a:p>
            <a:pPr algn="ctr">
              <a:lnSpc>
                <a:spcPts val="5482"/>
              </a:lnSpc>
            </a:pPr>
            <a:r>
              <a:rPr lang="en-US" sz="3654" spc="109">
                <a:solidFill>
                  <a:srgbClr val="3F3E3A"/>
                </a:solidFill>
                <a:latin typeface="Dynapuff Condensed"/>
                <a:ea typeface="Dynapuff Condensed"/>
                <a:cs typeface="Dynapuff Condensed"/>
                <a:sym typeface="Dynapuff Condensed"/>
              </a:rPr>
              <a:t>jason Alcantara</a:t>
            </a:r>
          </a:p>
          <a:p>
            <a:pPr algn="ctr">
              <a:lnSpc>
                <a:spcPts val="5482"/>
              </a:lnSpc>
            </a:pPr>
            <a:r>
              <a:rPr lang="en-US" sz="3654" spc="109">
                <a:solidFill>
                  <a:srgbClr val="3F3E3A"/>
                </a:solidFill>
                <a:latin typeface="Dynapuff Condensed"/>
                <a:ea typeface="Dynapuff Condensed"/>
                <a:cs typeface="Dynapuff Condensed"/>
                <a:sym typeface="Dynapuff Condensed"/>
              </a:rPr>
              <a:t>Gabriel Avila</a:t>
            </a:r>
          </a:p>
          <a:p>
            <a:pPr algn="ctr" marL="0" indent="0" lvl="0">
              <a:lnSpc>
                <a:spcPts val="5482"/>
              </a:lnSpc>
              <a:spcBef>
                <a:spcPct val="0"/>
              </a:spcBef>
            </a:pPr>
            <a:r>
              <a:rPr lang="en-US" sz="3654" spc="109">
                <a:solidFill>
                  <a:srgbClr val="3F3E3A"/>
                </a:solidFill>
                <a:latin typeface="Dynapuff Condensed"/>
                <a:ea typeface="Dynapuff Condensed"/>
                <a:cs typeface="Dynapuff Condensed"/>
                <a:sym typeface="Dynapuff Condensed"/>
              </a:rPr>
              <a:t>Kerwin Catungal</a:t>
            </a:r>
          </a:p>
        </p:txBody>
      </p:sp>
      <p:sp>
        <p:nvSpPr>
          <p:cNvPr name="Freeform 5" id="5"/>
          <p:cNvSpPr/>
          <p:nvPr/>
        </p:nvSpPr>
        <p:spPr>
          <a:xfrm flipH="false" flipV="false" rot="0">
            <a:off x="14254823" y="-455023"/>
            <a:ext cx="5040401" cy="4114800"/>
          </a:xfrm>
          <a:custGeom>
            <a:avLst/>
            <a:gdLst/>
            <a:ahLst/>
            <a:cxnLst/>
            <a:rect r="r" b="b" t="t" l="l"/>
            <a:pathLst>
              <a:path h="4114800" w="5040401">
                <a:moveTo>
                  <a:pt x="0" y="0"/>
                </a:moveTo>
                <a:lnTo>
                  <a:pt x="5040401" y="0"/>
                </a:lnTo>
                <a:lnTo>
                  <a:pt x="5040401"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0">
            <a:off x="572605" y="6043612"/>
            <a:ext cx="2369825" cy="2300885"/>
          </a:xfrm>
          <a:custGeom>
            <a:avLst/>
            <a:gdLst/>
            <a:ahLst/>
            <a:cxnLst/>
            <a:rect r="r" b="b" t="t" l="l"/>
            <a:pathLst>
              <a:path h="2300885" w="2369825">
                <a:moveTo>
                  <a:pt x="0" y="0"/>
                </a:moveTo>
                <a:lnTo>
                  <a:pt x="2369825" y="0"/>
                </a:lnTo>
                <a:lnTo>
                  <a:pt x="2369825" y="2300885"/>
                </a:lnTo>
                <a:lnTo>
                  <a:pt x="0" y="2300885"/>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7" id="7"/>
          <p:cNvSpPr txBox="true"/>
          <p:nvPr/>
        </p:nvSpPr>
        <p:spPr>
          <a:xfrm rot="0">
            <a:off x="2057400" y="3086100"/>
            <a:ext cx="14173200" cy="3196717"/>
          </a:xfrm>
          <a:prstGeom prst="rect">
            <a:avLst/>
          </a:prstGeom>
        </p:spPr>
        <p:txBody>
          <a:bodyPr anchor="t" rtlCol="false" tIns="0" lIns="0" bIns="0" rIns="0">
            <a:spAutoFit/>
          </a:bodyPr>
          <a:lstStyle/>
          <a:p>
            <a:pPr algn="ctr" marL="0" indent="0" lvl="0">
              <a:lnSpc>
                <a:spcPts val="25258"/>
              </a:lnSpc>
              <a:spcBef>
                <a:spcPct val="0"/>
              </a:spcBef>
            </a:pPr>
            <a:r>
              <a:rPr lang="en-US" sz="21048" spc="631">
                <a:solidFill>
                  <a:srgbClr val="000000"/>
                </a:solidFill>
                <a:latin typeface="Dynapuff Condensed"/>
                <a:ea typeface="Dynapuff Condensed"/>
                <a:cs typeface="Dynapuff Condensed"/>
                <a:sym typeface="Dynapuff Condensed"/>
              </a:rPr>
              <a:t>DEEPLINGO</a:t>
            </a:r>
          </a:p>
        </p:txBody>
      </p:sp>
      <p:sp>
        <p:nvSpPr>
          <p:cNvPr name="Freeform 8" id="8"/>
          <p:cNvSpPr/>
          <p:nvPr/>
        </p:nvSpPr>
        <p:spPr>
          <a:xfrm flipH="false" flipV="true" rot="0">
            <a:off x="0" y="0"/>
            <a:ext cx="4114800" cy="4114800"/>
          </a:xfrm>
          <a:custGeom>
            <a:avLst/>
            <a:gdLst/>
            <a:ahLst/>
            <a:cxnLst/>
            <a:rect r="r" b="b" t="t" l="l"/>
            <a:pathLst>
              <a:path h="4114800" w="4114800">
                <a:moveTo>
                  <a:pt x="0" y="4114800"/>
                </a:moveTo>
                <a:lnTo>
                  <a:pt x="4114800" y="4114800"/>
                </a:lnTo>
                <a:lnTo>
                  <a:pt x="4114800" y="0"/>
                </a:lnTo>
                <a:lnTo>
                  <a:pt x="0" y="0"/>
                </a:lnTo>
                <a:lnTo>
                  <a:pt x="0" y="411480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9" id="9"/>
          <p:cNvSpPr/>
          <p:nvPr/>
        </p:nvSpPr>
        <p:spPr>
          <a:xfrm flipH="true" flipV="false" rot="0">
            <a:off x="14418111" y="6172200"/>
            <a:ext cx="4114800" cy="4114800"/>
          </a:xfrm>
          <a:custGeom>
            <a:avLst/>
            <a:gdLst/>
            <a:ahLst/>
            <a:cxnLst/>
            <a:rect r="r" b="b" t="t" l="l"/>
            <a:pathLst>
              <a:path h="4114800" w="4114800">
                <a:moveTo>
                  <a:pt x="4114800" y="0"/>
                </a:moveTo>
                <a:lnTo>
                  <a:pt x="0" y="0"/>
                </a:lnTo>
                <a:lnTo>
                  <a:pt x="0" y="4114800"/>
                </a:lnTo>
                <a:lnTo>
                  <a:pt x="4114800" y="4114800"/>
                </a:lnTo>
                <a:lnTo>
                  <a:pt x="411480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FFEFDA"/>
        </a:solidFill>
      </p:bgPr>
    </p:bg>
    <p:spTree>
      <p:nvGrpSpPr>
        <p:cNvPr id="1" name=""/>
        <p:cNvGrpSpPr/>
        <p:nvPr/>
      </p:nvGrpSpPr>
      <p:grpSpPr>
        <a:xfrm>
          <a:off x="0" y="0"/>
          <a:ext cx="0" cy="0"/>
          <a:chOff x="0" y="0"/>
          <a:chExt cx="0" cy="0"/>
        </a:xfrm>
      </p:grpSpPr>
      <p:sp>
        <p:nvSpPr>
          <p:cNvPr name="TextBox 2" id="2"/>
          <p:cNvSpPr txBox="true"/>
          <p:nvPr/>
        </p:nvSpPr>
        <p:spPr>
          <a:xfrm rot="0">
            <a:off x="4726364" y="719629"/>
            <a:ext cx="8835271" cy="789591"/>
          </a:xfrm>
          <a:prstGeom prst="rect">
            <a:avLst/>
          </a:prstGeom>
        </p:spPr>
        <p:txBody>
          <a:bodyPr anchor="t" rtlCol="false" tIns="0" lIns="0" bIns="0" rIns="0">
            <a:spAutoFit/>
          </a:bodyPr>
          <a:lstStyle/>
          <a:p>
            <a:pPr algn="ctr" marL="0" indent="0" lvl="0">
              <a:lnSpc>
                <a:spcPts val="5688"/>
              </a:lnSpc>
              <a:spcBef>
                <a:spcPct val="0"/>
              </a:spcBef>
            </a:pPr>
            <a:r>
              <a:rPr lang="en-US" sz="6320">
                <a:solidFill>
                  <a:srgbClr val="000000"/>
                </a:solidFill>
                <a:latin typeface="Dynapuff Condensed"/>
                <a:ea typeface="Dynapuff Condensed"/>
                <a:cs typeface="Dynapuff Condensed"/>
                <a:sym typeface="Dynapuff Condensed"/>
              </a:rPr>
              <a:t>PROBLEM</a:t>
            </a:r>
          </a:p>
        </p:txBody>
      </p:sp>
      <p:sp>
        <p:nvSpPr>
          <p:cNvPr name="TextBox 3" id="3"/>
          <p:cNvSpPr txBox="true"/>
          <p:nvPr/>
        </p:nvSpPr>
        <p:spPr>
          <a:xfrm rot="0">
            <a:off x="1595823" y="1321493"/>
            <a:ext cx="15096354" cy="8535721"/>
          </a:xfrm>
          <a:prstGeom prst="rect">
            <a:avLst/>
          </a:prstGeom>
        </p:spPr>
        <p:txBody>
          <a:bodyPr anchor="t" rtlCol="false" tIns="0" lIns="0" bIns="0" rIns="0">
            <a:spAutoFit/>
          </a:bodyPr>
          <a:lstStyle/>
          <a:p>
            <a:pPr algn="l">
              <a:lnSpc>
                <a:spcPts val="2947"/>
              </a:lnSpc>
            </a:pPr>
          </a:p>
          <a:p>
            <a:pPr algn="l">
              <a:lnSpc>
                <a:spcPts val="2947"/>
              </a:lnSpc>
            </a:pPr>
            <a:r>
              <a:rPr lang="en-US" sz="2105" b="true">
                <a:solidFill>
                  <a:srgbClr val="000000"/>
                </a:solidFill>
                <a:latin typeface="Dynapuff SemiCondensed Bold"/>
                <a:ea typeface="Dynapuff SemiCondensed Bold"/>
                <a:cs typeface="Dynapuff SemiCondensed Bold"/>
                <a:sym typeface="Dynapuff SemiCondensed Bold"/>
              </a:rPr>
              <a:t>Problem:</a:t>
            </a:r>
          </a:p>
          <a:p>
            <a:pPr algn="l">
              <a:lnSpc>
                <a:spcPts val="2947"/>
              </a:lnSpc>
            </a:pPr>
            <a:r>
              <a:rPr lang="en-US" sz="2105" b="true">
                <a:solidFill>
                  <a:srgbClr val="000000"/>
                </a:solidFill>
                <a:latin typeface="Dynapuff SemiCondensed Bold"/>
                <a:ea typeface="Dynapuff SemiCondensed Bold"/>
                <a:cs typeface="Dynapuff SemiCondensed Bold"/>
                <a:sym typeface="Dynapuff SemiCondensed Bold"/>
              </a:rPr>
              <a:t>Lack of Exposure</a:t>
            </a:r>
          </a:p>
          <a:p>
            <a:pPr algn="l">
              <a:lnSpc>
                <a:spcPts val="2947"/>
              </a:lnSpc>
            </a:pPr>
            <a:r>
              <a:rPr lang="en-US" sz="2105">
                <a:solidFill>
                  <a:srgbClr val="000000"/>
                </a:solidFill>
                <a:latin typeface="Dynapuff SemiCondensed"/>
                <a:ea typeface="Dynapuff SemiCondensed"/>
                <a:cs typeface="Dynapuff SemiCondensed"/>
                <a:sym typeface="Dynapuff SemiCondensed"/>
              </a:rPr>
              <a:t>Teenagers m</a:t>
            </a:r>
            <a:r>
              <a:rPr lang="en-US" sz="2105">
                <a:solidFill>
                  <a:srgbClr val="000000"/>
                </a:solidFill>
                <a:latin typeface="Dynapuff SemiCondensed"/>
                <a:ea typeface="Dynapuff SemiCondensed"/>
                <a:cs typeface="Dynapuff SemiCondensed"/>
                <a:sym typeface="Dynapuff SemiCondensed"/>
              </a:rPr>
              <a:t>ight not be exposed to a wide variety of reading materials or diverse vocabularies that would help them encounter new words and see how synonyms and antonyms are used in different contexts. Limited reading habits can contribute to limited word knowledge.</a:t>
            </a:r>
          </a:p>
          <a:p>
            <a:pPr algn="l">
              <a:lnSpc>
                <a:spcPts val="2947"/>
              </a:lnSpc>
            </a:pPr>
          </a:p>
          <a:p>
            <a:pPr algn="l">
              <a:lnSpc>
                <a:spcPts val="2947"/>
              </a:lnSpc>
            </a:pPr>
            <a:r>
              <a:rPr lang="en-US" sz="2105" b="true">
                <a:solidFill>
                  <a:srgbClr val="000000"/>
                </a:solidFill>
                <a:latin typeface="Dynapuff SemiCondensed Bold"/>
                <a:ea typeface="Dynapuff SemiCondensed Bold"/>
                <a:cs typeface="Dynapuff SemiCondensed Bold"/>
                <a:sym typeface="Dynapuff SemiCondensed Bold"/>
              </a:rPr>
              <a:t>Impact: </a:t>
            </a:r>
          </a:p>
          <a:p>
            <a:pPr algn="l">
              <a:lnSpc>
                <a:spcPts val="2947"/>
              </a:lnSpc>
            </a:pPr>
            <a:r>
              <a:rPr lang="en-US" sz="2105" b="true">
                <a:solidFill>
                  <a:srgbClr val="000000"/>
                </a:solidFill>
                <a:latin typeface="Dynapuff SemiCondensed Bold"/>
                <a:ea typeface="Dynapuff SemiCondensed Bold"/>
                <a:cs typeface="Dynapuff SemiCondensed Bold"/>
                <a:sym typeface="Dynapuff SemiCondensed Bold"/>
              </a:rPr>
              <a:t>Reduced Critical Thinking</a:t>
            </a:r>
          </a:p>
          <a:p>
            <a:pPr algn="l">
              <a:lnSpc>
                <a:spcPts val="2947"/>
              </a:lnSpc>
            </a:pPr>
            <a:r>
              <a:rPr lang="en-US" sz="2105">
                <a:solidFill>
                  <a:srgbClr val="000000"/>
                </a:solidFill>
                <a:latin typeface="Dynapuff SemiCondensed"/>
                <a:ea typeface="Dynapuff SemiCondensed"/>
                <a:cs typeface="Dynapuff SemiCondensed"/>
                <a:sym typeface="Dynapuff SemiCondensed"/>
              </a:rPr>
              <a:t>A strong vocabulary is directly tied to critical thinking skills. If teenagers struggle with language nuances, it can hinder their ability to analyze complex ideas, identify key differences, and make informed decisions.</a:t>
            </a:r>
          </a:p>
          <a:p>
            <a:pPr algn="l">
              <a:lnSpc>
                <a:spcPts val="2947"/>
              </a:lnSpc>
            </a:pPr>
          </a:p>
          <a:p>
            <a:pPr algn="l">
              <a:lnSpc>
                <a:spcPts val="2947"/>
              </a:lnSpc>
            </a:pPr>
            <a:r>
              <a:rPr lang="en-US" sz="2105" b="true">
                <a:solidFill>
                  <a:srgbClr val="000000"/>
                </a:solidFill>
                <a:latin typeface="Dynapuff SemiCondensed Bold"/>
                <a:ea typeface="Dynapuff SemiCondensed Bold"/>
                <a:cs typeface="Dynapuff SemiCondensed Bold"/>
                <a:sym typeface="Dynapuff SemiCondensed Bold"/>
              </a:rPr>
              <a:t>Problem:</a:t>
            </a:r>
          </a:p>
          <a:p>
            <a:pPr algn="l">
              <a:lnSpc>
                <a:spcPts val="2947"/>
              </a:lnSpc>
            </a:pPr>
            <a:r>
              <a:rPr lang="en-US" sz="2105" b="true">
                <a:solidFill>
                  <a:srgbClr val="000000"/>
                </a:solidFill>
                <a:latin typeface="Dynapuff SemiCondensed Bold"/>
                <a:ea typeface="Dynapuff SemiCondensed Bold"/>
                <a:cs typeface="Dynapuff SemiCondensed Bold"/>
                <a:sym typeface="Dynapuff SemiCondensed Bold"/>
              </a:rPr>
              <a:t>Dependence on Technology </a:t>
            </a:r>
          </a:p>
          <a:p>
            <a:pPr algn="l">
              <a:lnSpc>
                <a:spcPts val="2947"/>
              </a:lnSpc>
            </a:pPr>
            <a:r>
              <a:rPr lang="en-US" sz="2105">
                <a:solidFill>
                  <a:srgbClr val="000000"/>
                </a:solidFill>
                <a:latin typeface="Dynapuff SemiCondensed"/>
                <a:ea typeface="Dynapuff SemiCondensed"/>
                <a:cs typeface="Dynapuff SemiCondensed"/>
                <a:sym typeface="Dynapuff SemiCondensed"/>
              </a:rPr>
              <a:t>Due to growth in digital communication (texts, social media, etc.) teenagers may become more dependent on abbreviations, slang, and informal language. </a:t>
            </a:r>
          </a:p>
          <a:p>
            <a:pPr algn="l">
              <a:lnSpc>
                <a:spcPts val="2947"/>
              </a:lnSpc>
            </a:pPr>
          </a:p>
          <a:p>
            <a:pPr algn="l">
              <a:lnSpc>
                <a:spcPts val="2947"/>
              </a:lnSpc>
            </a:pPr>
            <a:r>
              <a:rPr lang="en-US" sz="2105" b="true">
                <a:solidFill>
                  <a:srgbClr val="000000"/>
                </a:solidFill>
                <a:latin typeface="Dynapuff SemiCondensed Bold"/>
                <a:ea typeface="Dynapuff SemiCondensed Bold"/>
                <a:cs typeface="Dynapuff SemiCondensed Bold"/>
                <a:sym typeface="Dynapuff SemiCondensed Bold"/>
              </a:rPr>
              <a:t>Impact: </a:t>
            </a:r>
          </a:p>
          <a:p>
            <a:pPr algn="l">
              <a:lnSpc>
                <a:spcPts val="2947"/>
              </a:lnSpc>
            </a:pPr>
            <a:r>
              <a:rPr lang="en-US" sz="2105" b="true">
                <a:solidFill>
                  <a:srgbClr val="000000"/>
                </a:solidFill>
                <a:latin typeface="Dynapuff SemiCondensed Bold"/>
                <a:ea typeface="Dynapuff SemiCondensed Bold"/>
                <a:cs typeface="Dynapuff SemiCondensed Bold"/>
                <a:sym typeface="Dynapuff SemiCondensed Bold"/>
              </a:rPr>
              <a:t>Limited exposure to a variety of reading materials </a:t>
            </a:r>
          </a:p>
          <a:p>
            <a:pPr algn="l">
              <a:lnSpc>
                <a:spcPts val="2947"/>
              </a:lnSpc>
            </a:pPr>
            <a:r>
              <a:rPr lang="en-US" sz="2105">
                <a:solidFill>
                  <a:srgbClr val="000000"/>
                </a:solidFill>
                <a:latin typeface="Dynapuff SemiCondensed"/>
                <a:ea typeface="Dynapuff SemiCondensed"/>
                <a:cs typeface="Dynapuff SemiCondensed"/>
                <a:sym typeface="Dynapuff SemiCondensed"/>
              </a:rPr>
              <a:t>Teenagers often aren't challenged with a range of reading materials that force them to be mindful of their vocabulary and comprehension. They often gravitate towards reading content that is easily consumable, such as social media, memes, or entertainment, that does not require them to think deeply or use complex vocabulary.</a:t>
            </a:r>
          </a:p>
          <a:p>
            <a:pPr algn="l">
              <a:lnSpc>
                <a:spcPts val="2947"/>
              </a:lnSpc>
            </a:pPr>
          </a:p>
        </p:txBody>
      </p:sp>
      <p:sp>
        <p:nvSpPr>
          <p:cNvPr name="Freeform 4" id="4"/>
          <p:cNvSpPr/>
          <p:nvPr/>
        </p:nvSpPr>
        <p:spPr>
          <a:xfrm flipH="false" flipV="false" rot="0">
            <a:off x="-901079" y="7200900"/>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true" flipV="true" rot="0">
            <a:off x="15201900" y="-688282"/>
            <a:ext cx="4114800" cy="4114800"/>
          </a:xfrm>
          <a:custGeom>
            <a:avLst/>
            <a:gdLst/>
            <a:ahLst/>
            <a:cxnLst/>
            <a:rect r="r" b="b" t="t" l="l"/>
            <a:pathLst>
              <a:path h="4114800" w="4114800">
                <a:moveTo>
                  <a:pt x="4114800" y="4114800"/>
                </a:moveTo>
                <a:lnTo>
                  <a:pt x="0" y="4114800"/>
                </a:lnTo>
                <a:lnTo>
                  <a:pt x="0" y="0"/>
                </a:lnTo>
                <a:lnTo>
                  <a:pt x="4114800" y="0"/>
                </a:lnTo>
                <a:lnTo>
                  <a:pt x="4114800" y="4114800"/>
                </a:lnTo>
                <a:close/>
              </a:path>
            </a:pathLst>
          </a:custGeom>
          <a:blipFill>
            <a:blip r:embed="rId2">
              <a:extLst>
                <a:ext uri="{96DAC541-7B7A-43D3-8B79-37D633B846F1}">
                  <asvg:svgBlip xmlns:asvg="http://schemas.microsoft.com/office/drawing/2016/SVG/main" r:embed="rId3"/>
                </a:ext>
              </a:extLst>
            </a:blip>
            <a:stretch>
              <a:fillRect l="0" t="0" r="0" b="0"/>
            </a:stretch>
          </a:blipFill>
        </p:spPr>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FFEFDA"/>
        </a:solidFill>
      </p:bgPr>
    </p:bg>
    <p:spTree>
      <p:nvGrpSpPr>
        <p:cNvPr id="1" name=""/>
        <p:cNvGrpSpPr/>
        <p:nvPr/>
      </p:nvGrpSpPr>
      <p:grpSpPr>
        <a:xfrm>
          <a:off x="0" y="0"/>
          <a:ext cx="0" cy="0"/>
          <a:chOff x="0" y="0"/>
          <a:chExt cx="0" cy="0"/>
        </a:xfrm>
      </p:grpSpPr>
      <p:sp>
        <p:nvSpPr>
          <p:cNvPr name="TextBox 2" id="2"/>
          <p:cNvSpPr txBox="true"/>
          <p:nvPr/>
        </p:nvSpPr>
        <p:spPr>
          <a:xfrm rot="0">
            <a:off x="4726364" y="1200150"/>
            <a:ext cx="8835271" cy="789591"/>
          </a:xfrm>
          <a:prstGeom prst="rect">
            <a:avLst/>
          </a:prstGeom>
        </p:spPr>
        <p:txBody>
          <a:bodyPr anchor="t" rtlCol="false" tIns="0" lIns="0" bIns="0" rIns="0">
            <a:spAutoFit/>
          </a:bodyPr>
          <a:lstStyle/>
          <a:p>
            <a:pPr algn="ctr" marL="0" indent="0" lvl="0">
              <a:lnSpc>
                <a:spcPts val="5688"/>
              </a:lnSpc>
              <a:spcBef>
                <a:spcPct val="0"/>
              </a:spcBef>
            </a:pPr>
            <a:r>
              <a:rPr lang="en-US" sz="6320">
                <a:solidFill>
                  <a:srgbClr val="000000"/>
                </a:solidFill>
                <a:latin typeface="Dynapuff Condensed"/>
                <a:ea typeface="Dynapuff Condensed"/>
                <a:cs typeface="Dynapuff Condensed"/>
                <a:sym typeface="Dynapuff Condensed"/>
              </a:rPr>
              <a:t>RATIONALE</a:t>
            </a:r>
          </a:p>
        </p:txBody>
      </p:sp>
      <p:sp>
        <p:nvSpPr>
          <p:cNvPr name="TextBox 3" id="3"/>
          <p:cNvSpPr txBox="true"/>
          <p:nvPr/>
        </p:nvSpPr>
        <p:spPr>
          <a:xfrm rot="0">
            <a:off x="1535528" y="2253472"/>
            <a:ext cx="15723772" cy="7559010"/>
          </a:xfrm>
          <a:prstGeom prst="rect">
            <a:avLst/>
          </a:prstGeom>
        </p:spPr>
        <p:txBody>
          <a:bodyPr anchor="t" rtlCol="false" tIns="0" lIns="0" bIns="0" rIns="0">
            <a:spAutoFit/>
          </a:bodyPr>
          <a:lstStyle/>
          <a:p>
            <a:pPr algn="l">
              <a:lnSpc>
                <a:spcPts val="4297"/>
              </a:lnSpc>
            </a:pPr>
            <a:r>
              <a:rPr lang="en-US" sz="3069">
                <a:solidFill>
                  <a:srgbClr val="000000"/>
                </a:solidFill>
                <a:latin typeface="Dynapuff SemiCondensed"/>
                <a:ea typeface="Dynapuff SemiCondensed"/>
                <a:cs typeface="Dynapuff SemiCondensed"/>
                <a:sym typeface="Dynapuff SemiCondensed"/>
              </a:rPr>
              <a:t>Th</a:t>
            </a:r>
            <a:r>
              <a:rPr lang="en-US" sz="3069">
                <a:solidFill>
                  <a:srgbClr val="000000"/>
                </a:solidFill>
                <a:latin typeface="Dynapuff SemiCondensed"/>
                <a:ea typeface="Dynapuff SemiCondensed"/>
                <a:cs typeface="Dynapuff SemiCondensed"/>
                <a:sym typeface="Dynapuff SemiCondensed"/>
              </a:rPr>
              <a:t>e</a:t>
            </a:r>
            <a:r>
              <a:rPr lang="en-US" sz="3069">
                <a:solidFill>
                  <a:srgbClr val="000000"/>
                </a:solidFill>
                <a:latin typeface="Dynapuff SemiCondensed"/>
                <a:ea typeface="Dynapuff SemiCondensed"/>
                <a:cs typeface="Dynapuff SemiCondensed"/>
                <a:sym typeface="Dynapuff SemiCondensed"/>
              </a:rPr>
              <a:t> Deep</a:t>
            </a:r>
            <a:r>
              <a:rPr lang="en-US" sz="3069">
                <a:solidFill>
                  <a:srgbClr val="000000"/>
                </a:solidFill>
                <a:latin typeface="Dynapuff SemiCondensed"/>
                <a:ea typeface="Dynapuff SemiCondensed"/>
                <a:cs typeface="Dynapuff SemiCondensed"/>
                <a:sym typeface="Dynapuff SemiCondensed"/>
              </a:rPr>
              <a:t>L</a:t>
            </a:r>
            <a:r>
              <a:rPr lang="en-US" sz="3069">
                <a:solidFill>
                  <a:srgbClr val="000000"/>
                </a:solidFill>
                <a:latin typeface="Dynapuff SemiCondensed"/>
                <a:ea typeface="Dynapuff SemiCondensed"/>
                <a:cs typeface="Dynapuff SemiCondensed"/>
                <a:sym typeface="Dynapuff SemiCondensed"/>
              </a:rPr>
              <a:t>ing</a:t>
            </a:r>
            <a:r>
              <a:rPr lang="en-US" sz="3069">
                <a:solidFill>
                  <a:srgbClr val="000000"/>
                </a:solidFill>
                <a:latin typeface="Dynapuff SemiCondensed"/>
                <a:ea typeface="Dynapuff SemiCondensed"/>
                <a:cs typeface="Dynapuff SemiCondensed"/>
                <a:sym typeface="Dynapuff SemiCondensed"/>
              </a:rPr>
              <a:t>o </a:t>
            </a:r>
            <a:r>
              <a:rPr lang="en-US" sz="3069">
                <a:solidFill>
                  <a:srgbClr val="000000"/>
                </a:solidFill>
                <a:latin typeface="Dynapuff SemiCondensed"/>
                <a:ea typeface="Dynapuff SemiCondensed"/>
                <a:cs typeface="Dynapuff SemiCondensed"/>
                <a:sym typeface="Dynapuff SemiCondensed"/>
              </a:rPr>
              <a:t>Dicti</a:t>
            </a:r>
            <a:r>
              <a:rPr lang="en-US" sz="3069">
                <a:solidFill>
                  <a:srgbClr val="000000"/>
                </a:solidFill>
                <a:latin typeface="Dynapuff SemiCondensed"/>
                <a:ea typeface="Dynapuff SemiCondensed"/>
                <a:cs typeface="Dynapuff SemiCondensed"/>
                <a:sym typeface="Dynapuff SemiCondensed"/>
              </a:rPr>
              <a:t>o</a:t>
            </a:r>
            <a:r>
              <a:rPr lang="en-US" sz="3069">
                <a:solidFill>
                  <a:srgbClr val="000000"/>
                </a:solidFill>
                <a:latin typeface="Dynapuff SemiCondensed"/>
                <a:ea typeface="Dynapuff SemiCondensed"/>
                <a:cs typeface="Dynapuff SemiCondensed"/>
                <a:sym typeface="Dynapuff SemiCondensed"/>
              </a:rPr>
              <a:t>nary appl</a:t>
            </a:r>
            <a:r>
              <a:rPr lang="en-US" sz="3069">
                <a:solidFill>
                  <a:srgbClr val="000000"/>
                </a:solidFill>
                <a:latin typeface="Dynapuff SemiCondensed"/>
                <a:ea typeface="Dynapuff SemiCondensed"/>
                <a:cs typeface="Dynapuff SemiCondensed"/>
                <a:sym typeface="Dynapuff SemiCondensed"/>
              </a:rPr>
              <a:t>ication is using a contiguous container which is the QVector&lt;WordEntry&gt; in which is located within a WordStorage singleton as the main in-memory data structure and such a decision ensures very good cache locality and an amortized O(1) time complexity for adding new records and although the UI layer </a:t>
            </a:r>
            <a:r>
              <a:rPr lang="en-US" sz="3069">
                <a:solidFill>
                  <a:srgbClr val="000000"/>
                </a:solidFill>
                <a:latin typeface="Dynapuff SemiCondensed"/>
                <a:ea typeface="Dynapuff SemiCondensed"/>
                <a:cs typeface="Dynapuff SemiCondensed"/>
                <a:sym typeface="Dynapuff SemiCondensed"/>
              </a:rPr>
              <a:t>m</a:t>
            </a:r>
            <a:r>
              <a:rPr lang="en-US" sz="3069">
                <a:solidFill>
                  <a:srgbClr val="000000"/>
                </a:solidFill>
                <a:latin typeface="Dynapuff SemiCondensed"/>
                <a:ea typeface="Dynapuff SemiCondensed"/>
                <a:cs typeface="Dynapuff SemiCondensed"/>
                <a:sym typeface="Dynapuff SemiCondensed"/>
              </a:rPr>
              <a:t>ani</a:t>
            </a:r>
            <a:r>
              <a:rPr lang="en-US" sz="3069">
                <a:solidFill>
                  <a:srgbClr val="000000"/>
                </a:solidFill>
                <a:latin typeface="Dynapuff SemiCondensed"/>
                <a:ea typeface="Dynapuff SemiCondensed"/>
                <a:cs typeface="Dynapuff SemiCondensed"/>
                <a:sym typeface="Dynapuff SemiCondensed"/>
              </a:rPr>
              <a:t>p</a:t>
            </a:r>
            <a:r>
              <a:rPr lang="en-US" sz="3069">
                <a:solidFill>
                  <a:srgbClr val="000000"/>
                </a:solidFill>
                <a:latin typeface="Dynapuff SemiCondensed"/>
                <a:ea typeface="Dynapuff SemiCondensed"/>
                <a:cs typeface="Dynapuff SemiCondensed"/>
                <a:sym typeface="Dynapuff SemiCondensed"/>
              </a:rPr>
              <a:t>ul</a:t>
            </a:r>
            <a:r>
              <a:rPr lang="en-US" sz="3069">
                <a:solidFill>
                  <a:srgbClr val="000000"/>
                </a:solidFill>
                <a:latin typeface="Dynapuff SemiCondensed"/>
                <a:ea typeface="Dynapuff SemiCondensed"/>
                <a:cs typeface="Dynapuff SemiCondensed"/>
                <a:sym typeface="Dynapuff SemiCondensed"/>
              </a:rPr>
              <a:t>ate</a:t>
            </a:r>
            <a:r>
              <a:rPr lang="en-US" sz="3069">
                <a:solidFill>
                  <a:srgbClr val="000000"/>
                </a:solidFill>
                <a:latin typeface="Dynapuff SemiCondensed"/>
                <a:ea typeface="Dynapuff SemiCondensed"/>
                <a:cs typeface="Dynapuff SemiCondensed"/>
                <a:sym typeface="Dynapuff SemiCondensed"/>
              </a:rPr>
              <a:t>s</a:t>
            </a:r>
            <a:r>
              <a:rPr lang="en-US" sz="3069">
                <a:solidFill>
                  <a:srgbClr val="000000"/>
                </a:solidFill>
                <a:latin typeface="Dynapuff SemiCondensed"/>
                <a:ea typeface="Dynapuff SemiCondensed"/>
                <a:cs typeface="Dynapuff SemiCondensed"/>
                <a:sym typeface="Dynapuff SemiCondensed"/>
              </a:rPr>
              <a:t> </a:t>
            </a:r>
            <a:r>
              <a:rPr lang="en-US" sz="3069">
                <a:solidFill>
                  <a:srgbClr val="000000"/>
                </a:solidFill>
                <a:latin typeface="Dynapuff SemiCondensed"/>
                <a:ea typeface="Dynapuff SemiCondensed"/>
                <a:cs typeface="Dynapuff SemiCondensed"/>
                <a:sym typeface="Dynapuff SemiCondensed"/>
              </a:rPr>
              <a:t>ent</a:t>
            </a:r>
            <a:r>
              <a:rPr lang="en-US" sz="3069">
                <a:solidFill>
                  <a:srgbClr val="000000"/>
                </a:solidFill>
                <a:latin typeface="Dynapuff SemiCondensed"/>
                <a:ea typeface="Dynapuff SemiCondensed"/>
                <a:cs typeface="Dynapuff SemiCondensed"/>
                <a:sym typeface="Dynapuff SemiCondensed"/>
              </a:rPr>
              <a:t>iti</a:t>
            </a:r>
            <a:r>
              <a:rPr lang="en-US" sz="3069">
                <a:solidFill>
                  <a:srgbClr val="000000"/>
                </a:solidFill>
                <a:latin typeface="Dynapuff SemiCondensed"/>
                <a:ea typeface="Dynapuff SemiCondensed"/>
                <a:cs typeface="Dynapuff SemiCondensed"/>
                <a:sym typeface="Dynapuff SemiCondensed"/>
              </a:rPr>
              <a:t>es</a:t>
            </a:r>
            <a:r>
              <a:rPr lang="en-US" sz="3069">
                <a:solidFill>
                  <a:srgbClr val="000000"/>
                </a:solidFill>
                <a:latin typeface="Dynapuff SemiCondensed"/>
                <a:ea typeface="Dynapuff SemiCondensed"/>
                <a:cs typeface="Dynapuff SemiCondensed"/>
                <a:sym typeface="Dynapuff SemiCondensed"/>
              </a:rPr>
              <a:t> </a:t>
            </a:r>
            <a:r>
              <a:rPr lang="en-US" sz="3069">
                <a:solidFill>
                  <a:srgbClr val="000000"/>
                </a:solidFill>
                <a:latin typeface="Dynapuff SemiCondensed"/>
                <a:ea typeface="Dynapuff SemiCondensed"/>
                <a:cs typeface="Dynapuff SemiCondensed"/>
                <a:sym typeface="Dynapuff SemiCondensed"/>
              </a:rPr>
              <a:t>l</a:t>
            </a:r>
            <a:r>
              <a:rPr lang="en-US" sz="3069">
                <a:solidFill>
                  <a:srgbClr val="000000"/>
                </a:solidFill>
                <a:latin typeface="Dynapuff SemiCondensed"/>
                <a:ea typeface="Dynapuff SemiCondensed"/>
                <a:cs typeface="Dynapuff SemiCondensed"/>
                <a:sym typeface="Dynapuff SemiCondensed"/>
              </a:rPr>
              <a:t>ik</a:t>
            </a:r>
            <a:r>
              <a:rPr lang="en-US" sz="3069">
                <a:solidFill>
                  <a:srgbClr val="000000"/>
                </a:solidFill>
                <a:latin typeface="Dynapuff SemiCondensed"/>
                <a:ea typeface="Dynapuff SemiCondensed"/>
                <a:cs typeface="Dynapuff SemiCondensed"/>
                <a:sym typeface="Dynapuff SemiCondensed"/>
              </a:rPr>
              <a:t>e QL</a:t>
            </a:r>
            <a:r>
              <a:rPr lang="en-US" sz="3069">
                <a:solidFill>
                  <a:srgbClr val="000000"/>
                </a:solidFill>
                <a:latin typeface="Dynapuff SemiCondensed"/>
                <a:ea typeface="Dynapuff SemiCondensed"/>
                <a:cs typeface="Dynapuff SemiCondensed"/>
                <a:sym typeface="Dynapuff SemiCondensed"/>
              </a:rPr>
              <a:t>i</a:t>
            </a:r>
            <a:r>
              <a:rPr lang="en-US" sz="3069">
                <a:solidFill>
                  <a:srgbClr val="000000"/>
                </a:solidFill>
                <a:latin typeface="Dynapuff SemiCondensed"/>
                <a:ea typeface="Dynapuff SemiCondensed"/>
                <a:cs typeface="Dynapuff SemiCondensed"/>
                <a:sym typeface="Dynapuff SemiCondensed"/>
              </a:rPr>
              <a:t>stWidget for visualization, the core data model is based on QVector and the manner in which search and retrieval operations are presently implemented such as the Function</a:t>
            </a:r>
            <a:r>
              <a:rPr lang="en-US" sz="3069">
                <a:solidFill>
                  <a:srgbClr val="000000"/>
                </a:solidFill>
                <a:latin typeface="Dynapuff SemiCondensed"/>
                <a:ea typeface="Dynapuff SemiCondensed"/>
                <a:cs typeface="Dynapuff SemiCondensed"/>
                <a:sym typeface="Dynapuff SemiCondensed"/>
              </a:rPr>
              <a:t>:</a:t>
            </a:r>
            <a:r>
              <a:rPr lang="en-US" sz="3069">
                <a:solidFill>
                  <a:srgbClr val="000000"/>
                </a:solidFill>
                <a:latin typeface="Dynapuff SemiCondensed"/>
                <a:ea typeface="Dynapuff SemiCondensed"/>
                <a:cs typeface="Dynapuff SemiCondensed"/>
                <a:sym typeface="Dynapuff SemiCondensed"/>
              </a:rPr>
              <a:t>:s</a:t>
            </a:r>
            <a:r>
              <a:rPr lang="en-US" sz="3069">
                <a:solidFill>
                  <a:srgbClr val="000000"/>
                </a:solidFill>
                <a:latin typeface="Dynapuff SemiCondensed"/>
                <a:ea typeface="Dynapuff SemiCondensed"/>
                <a:cs typeface="Dynapuff SemiCondensed"/>
                <a:sym typeface="Dynapuff SemiCondensed"/>
              </a:rPr>
              <a:t>e</a:t>
            </a:r>
            <a:r>
              <a:rPr lang="en-US" sz="3069">
                <a:solidFill>
                  <a:srgbClr val="000000"/>
                </a:solidFill>
                <a:latin typeface="Dynapuff SemiCondensed"/>
                <a:ea typeface="Dynapuff SemiCondensed"/>
                <a:cs typeface="Dynapuff SemiCondensed"/>
                <a:sym typeface="Dynapuff SemiCondensed"/>
              </a:rPr>
              <a:t>ar</a:t>
            </a:r>
            <a:r>
              <a:rPr lang="en-US" sz="3069">
                <a:solidFill>
                  <a:srgbClr val="000000"/>
                </a:solidFill>
                <a:latin typeface="Dynapuff SemiCondensed"/>
                <a:ea typeface="Dynapuff SemiCondensed"/>
                <a:cs typeface="Dynapuff SemiCondensed"/>
                <a:sym typeface="Dynapuff SemiCondensed"/>
              </a:rPr>
              <a:t>ch</a:t>
            </a:r>
            <a:r>
              <a:rPr lang="en-US" sz="3069">
                <a:solidFill>
                  <a:srgbClr val="000000"/>
                </a:solidFill>
                <a:latin typeface="Dynapuff SemiCondensed"/>
                <a:ea typeface="Dynapuff SemiCondensed"/>
                <a:cs typeface="Dynapuff SemiCondensed"/>
                <a:sym typeface="Dynapuff SemiCondensed"/>
              </a:rPr>
              <a:t>W</a:t>
            </a:r>
            <a:r>
              <a:rPr lang="en-US" sz="3069">
                <a:solidFill>
                  <a:srgbClr val="000000"/>
                </a:solidFill>
                <a:latin typeface="Dynapuff SemiCondensed"/>
                <a:ea typeface="Dynapuff SemiCondensed"/>
                <a:cs typeface="Dynapuff SemiCondensed"/>
                <a:sym typeface="Dynapuff SemiCondensed"/>
              </a:rPr>
              <a:t>o</a:t>
            </a:r>
            <a:r>
              <a:rPr lang="en-US" sz="3069">
                <a:solidFill>
                  <a:srgbClr val="000000"/>
                </a:solidFill>
                <a:latin typeface="Dynapuff SemiCondensed"/>
                <a:ea typeface="Dynapuff SemiCondensed"/>
                <a:cs typeface="Dynapuff SemiCondensed"/>
                <a:sym typeface="Dynapuff SemiCondensed"/>
              </a:rPr>
              <a:t>rd a</a:t>
            </a:r>
            <a:r>
              <a:rPr lang="en-US" sz="3069">
                <a:solidFill>
                  <a:srgbClr val="000000"/>
                </a:solidFill>
                <a:latin typeface="Dynapuff SemiCondensed"/>
                <a:ea typeface="Dynapuff SemiCondensed"/>
                <a:cs typeface="Dynapuff SemiCondensed"/>
                <a:sym typeface="Dynapuff SemiCondensed"/>
              </a:rPr>
              <a:t>lo</a:t>
            </a:r>
            <a:r>
              <a:rPr lang="en-US" sz="3069">
                <a:solidFill>
                  <a:srgbClr val="000000"/>
                </a:solidFill>
                <a:latin typeface="Dynapuff SemiCondensed"/>
                <a:ea typeface="Dynapuff SemiCondensed"/>
                <a:cs typeface="Dynapuff SemiCondensed"/>
                <a:sym typeface="Dynapuff SemiCondensed"/>
              </a:rPr>
              <a:t>n</a:t>
            </a:r>
            <a:r>
              <a:rPr lang="en-US" sz="3069">
                <a:solidFill>
                  <a:srgbClr val="000000"/>
                </a:solidFill>
                <a:latin typeface="Dynapuff SemiCondensed"/>
                <a:ea typeface="Dynapuff SemiCondensed"/>
                <a:cs typeface="Dynapuff SemiCondensed"/>
                <a:sym typeface="Dynapuff SemiCondensed"/>
              </a:rPr>
              <a:t>g </a:t>
            </a:r>
            <a:r>
              <a:rPr lang="en-US" sz="3069">
                <a:solidFill>
                  <a:srgbClr val="000000"/>
                </a:solidFill>
                <a:latin typeface="Dynapuff SemiCondensed"/>
                <a:ea typeface="Dynapuff SemiCondensed"/>
                <a:cs typeface="Dynapuff SemiCondensed"/>
                <a:sym typeface="Dynapuff SemiCondensed"/>
              </a:rPr>
              <a:t>with the filtering routines (wordsForLetter), necessitates a linear scan of all O(n) words in the store, thus the </a:t>
            </a:r>
            <a:r>
              <a:rPr lang="en-US" sz="3069">
                <a:solidFill>
                  <a:srgbClr val="000000"/>
                </a:solidFill>
                <a:latin typeface="Dynapuff SemiCondensed"/>
                <a:ea typeface="Dynapuff SemiCondensed"/>
                <a:cs typeface="Dynapuff SemiCondensed"/>
                <a:sym typeface="Dynapuff SemiCondensed"/>
              </a:rPr>
              <a:t>time </a:t>
            </a:r>
            <a:r>
              <a:rPr lang="en-US" sz="3069">
                <a:solidFill>
                  <a:srgbClr val="000000"/>
                </a:solidFill>
                <a:latin typeface="Dynapuff SemiCondensed"/>
                <a:ea typeface="Dynapuff SemiCondensed"/>
                <a:cs typeface="Dynapuff SemiCondensed"/>
                <a:sym typeface="Dynapuff SemiCondensed"/>
              </a:rPr>
              <a:t>com</a:t>
            </a:r>
            <a:r>
              <a:rPr lang="en-US" sz="3069">
                <a:solidFill>
                  <a:srgbClr val="000000"/>
                </a:solidFill>
                <a:latin typeface="Dynapuff SemiCondensed"/>
                <a:ea typeface="Dynapuff SemiCondensed"/>
                <a:cs typeface="Dynapuff SemiCondensed"/>
                <a:sym typeface="Dynapuff SemiCondensed"/>
              </a:rPr>
              <a:t>p</a:t>
            </a:r>
            <a:r>
              <a:rPr lang="en-US" sz="3069">
                <a:solidFill>
                  <a:srgbClr val="000000"/>
                </a:solidFill>
                <a:latin typeface="Dynapuff SemiCondensed"/>
                <a:ea typeface="Dynapuff SemiCondensed"/>
                <a:cs typeface="Dynapuff SemiCondensed"/>
                <a:sym typeface="Dynapuff SemiCondensed"/>
              </a:rPr>
              <a:t>l</a:t>
            </a:r>
            <a:r>
              <a:rPr lang="en-US" sz="3069">
                <a:solidFill>
                  <a:srgbClr val="000000"/>
                </a:solidFill>
                <a:latin typeface="Dynapuff SemiCondensed"/>
                <a:ea typeface="Dynapuff SemiCondensed"/>
                <a:cs typeface="Dynapuff SemiCondensed"/>
                <a:sym typeface="Dynapuff SemiCondensed"/>
              </a:rPr>
              <a:t>e</a:t>
            </a:r>
            <a:r>
              <a:rPr lang="en-US" sz="3069">
                <a:solidFill>
                  <a:srgbClr val="000000"/>
                </a:solidFill>
                <a:latin typeface="Dynapuff SemiCondensed"/>
                <a:ea typeface="Dynapuff SemiCondensed"/>
                <a:cs typeface="Dynapuff SemiCondensed"/>
                <a:sym typeface="Dynapuff SemiCondensed"/>
              </a:rPr>
              <a:t>x</a:t>
            </a:r>
            <a:r>
              <a:rPr lang="en-US" sz="3069">
                <a:solidFill>
                  <a:srgbClr val="000000"/>
                </a:solidFill>
                <a:latin typeface="Dynapuff SemiCondensed"/>
                <a:ea typeface="Dynapuff SemiCondensed"/>
                <a:cs typeface="Dynapuff SemiCondensed"/>
                <a:sym typeface="Dynapuff SemiCondensed"/>
              </a:rPr>
              <a:t>ity of </a:t>
            </a:r>
            <a:r>
              <a:rPr lang="en-US" sz="3069">
                <a:solidFill>
                  <a:srgbClr val="000000"/>
                </a:solidFill>
                <a:latin typeface="Dynapuff SemiCondensed"/>
                <a:ea typeface="Dynapuff SemiCondensed"/>
                <a:cs typeface="Dynapuff SemiCondensed"/>
                <a:sym typeface="Dynapuff SemiCondensed"/>
              </a:rPr>
              <a:t>wo</a:t>
            </a:r>
            <a:r>
              <a:rPr lang="en-US" sz="3069">
                <a:solidFill>
                  <a:srgbClr val="000000"/>
                </a:solidFill>
                <a:latin typeface="Dynapuff SemiCondensed"/>
                <a:ea typeface="Dynapuff SemiCondensed"/>
                <a:cs typeface="Dynapuff SemiCondensed"/>
                <a:sym typeface="Dynapuff SemiCondensed"/>
              </a:rPr>
              <a:t>rd</a:t>
            </a:r>
            <a:r>
              <a:rPr lang="en-US" sz="3069">
                <a:solidFill>
                  <a:srgbClr val="000000"/>
                </a:solidFill>
                <a:latin typeface="Dynapuff SemiCondensed"/>
                <a:ea typeface="Dynapuff SemiCondensed"/>
                <a:cs typeface="Dynapuff SemiCondensed"/>
                <a:sym typeface="Dynapuff SemiCondensed"/>
              </a:rPr>
              <a:t> lookups</a:t>
            </a:r>
            <a:r>
              <a:rPr lang="en-US" sz="3069">
                <a:solidFill>
                  <a:srgbClr val="000000"/>
                </a:solidFill>
                <a:latin typeface="Dynapuff SemiCondensed"/>
                <a:ea typeface="Dynapuff SemiCondensed"/>
                <a:cs typeface="Dynapuff SemiCondensed"/>
                <a:sym typeface="Dynapuff SemiCondensed"/>
              </a:rPr>
              <a:t> is </a:t>
            </a:r>
            <a:r>
              <a:rPr lang="en-US" sz="3069">
                <a:solidFill>
                  <a:srgbClr val="000000"/>
                </a:solidFill>
                <a:latin typeface="Dynapuff SemiCondensed"/>
                <a:ea typeface="Dynapuff SemiCondensed"/>
                <a:cs typeface="Dynapuff SemiCondensed"/>
                <a:sym typeface="Dynapuff SemiCondensed"/>
              </a:rPr>
              <a:t>O(n). The space complexity of these operations is O(n + s) with being the temporary storage for the result lists, while the persistent memory is proportional to the total number of characters across all the WordEntry fields O(total characters ‌ ‍​‍​‌‍​‍‌stored).</a:t>
            </a:r>
          </a:p>
          <a:p>
            <a:pPr algn="l">
              <a:lnSpc>
                <a:spcPts val="4297"/>
              </a:lnSpc>
            </a:pPr>
          </a:p>
          <a:p>
            <a:pPr algn="l">
              <a:lnSpc>
                <a:spcPts val="4297"/>
              </a:lnSpc>
            </a:pPr>
          </a:p>
        </p:txBody>
      </p:sp>
      <p:sp>
        <p:nvSpPr>
          <p:cNvPr name="Freeform 4" id="4"/>
          <p:cNvSpPr/>
          <p:nvPr/>
        </p:nvSpPr>
        <p:spPr>
          <a:xfrm flipH="false" flipV="false" rot="0">
            <a:off x="-901079" y="7200900"/>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true" flipV="true" rot="0">
            <a:off x="15201900" y="-688282"/>
            <a:ext cx="4114800" cy="4114800"/>
          </a:xfrm>
          <a:custGeom>
            <a:avLst/>
            <a:gdLst/>
            <a:ahLst/>
            <a:cxnLst/>
            <a:rect r="r" b="b" t="t" l="l"/>
            <a:pathLst>
              <a:path h="4114800" w="4114800">
                <a:moveTo>
                  <a:pt x="4114800" y="4114800"/>
                </a:moveTo>
                <a:lnTo>
                  <a:pt x="0" y="4114800"/>
                </a:lnTo>
                <a:lnTo>
                  <a:pt x="0" y="0"/>
                </a:lnTo>
                <a:lnTo>
                  <a:pt x="4114800" y="0"/>
                </a:lnTo>
                <a:lnTo>
                  <a:pt x="4114800" y="4114800"/>
                </a:lnTo>
                <a:close/>
              </a:path>
            </a:pathLst>
          </a:custGeom>
          <a:blipFill>
            <a:blip r:embed="rId2">
              <a:extLst>
                <a:ext uri="{96DAC541-7B7A-43D3-8B79-37D633B846F1}">
                  <asvg:svgBlip xmlns:asvg="http://schemas.microsoft.com/office/drawing/2016/SVG/main" r:embed="rId3"/>
                </a:ext>
              </a:extLst>
            </a:blip>
            <a:stretch>
              <a:fillRect l="0" t="0" r="0" b="0"/>
            </a:stretch>
          </a:blipFill>
        </p:spPr>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FFEFDA"/>
        </a:solidFill>
      </p:bgPr>
    </p:bg>
    <p:spTree>
      <p:nvGrpSpPr>
        <p:cNvPr id="1" name=""/>
        <p:cNvGrpSpPr/>
        <p:nvPr/>
      </p:nvGrpSpPr>
      <p:grpSpPr>
        <a:xfrm>
          <a:off x="0" y="0"/>
          <a:ext cx="0" cy="0"/>
          <a:chOff x="0" y="0"/>
          <a:chExt cx="0" cy="0"/>
        </a:xfrm>
      </p:grpSpPr>
      <p:sp>
        <p:nvSpPr>
          <p:cNvPr name="Freeform 2" id="2"/>
          <p:cNvSpPr/>
          <p:nvPr/>
        </p:nvSpPr>
        <p:spPr>
          <a:xfrm flipH="false" flipV="false" rot="0">
            <a:off x="4302728" y="3093960"/>
            <a:ext cx="898554" cy="895287"/>
          </a:xfrm>
          <a:custGeom>
            <a:avLst/>
            <a:gdLst/>
            <a:ahLst/>
            <a:cxnLst/>
            <a:rect r="r" b="b" t="t" l="l"/>
            <a:pathLst>
              <a:path h="895287" w="898554">
                <a:moveTo>
                  <a:pt x="0" y="0"/>
                </a:moveTo>
                <a:lnTo>
                  <a:pt x="898554" y="0"/>
                </a:lnTo>
                <a:lnTo>
                  <a:pt x="898554" y="895287"/>
                </a:lnTo>
                <a:lnTo>
                  <a:pt x="0" y="89528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8961724" y="3074910"/>
            <a:ext cx="898554" cy="895287"/>
          </a:xfrm>
          <a:custGeom>
            <a:avLst/>
            <a:gdLst/>
            <a:ahLst/>
            <a:cxnLst/>
            <a:rect r="r" b="b" t="t" l="l"/>
            <a:pathLst>
              <a:path h="895287" w="898554">
                <a:moveTo>
                  <a:pt x="0" y="0"/>
                </a:moveTo>
                <a:lnTo>
                  <a:pt x="898554" y="0"/>
                </a:lnTo>
                <a:lnTo>
                  <a:pt x="898554" y="895287"/>
                </a:lnTo>
                <a:lnTo>
                  <a:pt x="0" y="89528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3086718" y="3093960"/>
            <a:ext cx="898554" cy="895287"/>
          </a:xfrm>
          <a:custGeom>
            <a:avLst/>
            <a:gdLst/>
            <a:ahLst/>
            <a:cxnLst/>
            <a:rect r="r" b="b" t="t" l="l"/>
            <a:pathLst>
              <a:path h="895287" w="898554">
                <a:moveTo>
                  <a:pt x="0" y="0"/>
                </a:moveTo>
                <a:lnTo>
                  <a:pt x="898554" y="0"/>
                </a:lnTo>
                <a:lnTo>
                  <a:pt x="898554" y="895287"/>
                </a:lnTo>
                <a:lnTo>
                  <a:pt x="0" y="89528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AutoShape 5" id="5"/>
          <p:cNvSpPr/>
          <p:nvPr/>
        </p:nvSpPr>
        <p:spPr>
          <a:xfrm flipV="true">
            <a:off x="5201282" y="3522554"/>
            <a:ext cx="3760442" cy="19050"/>
          </a:xfrm>
          <a:prstGeom prst="line">
            <a:avLst/>
          </a:prstGeom>
          <a:ln cap="flat" w="38100">
            <a:solidFill>
              <a:srgbClr val="000000"/>
            </a:solidFill>
            <a:prstDash val="solid"/>
            <a:headEnd type="none" len="sm" w="sm"/>
            <a:tailEnd type="none" len="sm" w="sm"/>
          </a:ln>
        </p:spPr>
      </p:sp>
      <p:sp>
        <p:nvSpPr>
          <p:cNvPr name="AutoShape 6" id="6"/>
          <p:cNvSpPr/>
          <p:nvPr/>
        </p:nvSpPr>
        <p:spPr>
          <a:xfrm>
            <a:off x="9860278" y="3524882"/>
            <a:ext cx="3226440" cy="16722"/>
          </a:xfrm>
          <a:prstGeom prst="line">
            <a:avLst/>
          </a:prstGeom>
          <a:ln cap="flat" w="38100">
            <a:solidFill>
              <a:srgbClr val="000000"/>
            </a:solidFill>
            <a:prstDash val="solid"/>
            <a:headEnd type="none" len="sm" w="sm"/>
            <a:tailEnd type="none" len="sm" w="sm"/>
          </a:ln>
        </p:spPr>
      </p:sp>
      <p:sp>
        <p:nvSpPr>
          <p:cNvPr name="TextBox 7" id="7"/>
          <p:cNvSpPr txBox="true"/>
          <p:nvPr/>
        </p:nvSpPr>
        <p:spPr>
          <a:xfrm rot="0">
            <a:off x="5731685" y="1576064"/>
            <a:ext cx="8029882" cy="953147"/>
          </a:xfrm>
          <a:prstGeom prst="rect">
            <a:avLst/>
          </a:prstGeom>
        </p:spPr>
        <p:txBody>
          <a:bodyPr anchor="t" rtlCol="false" tIns="0" lIns="0" bIns="0" rIns="0">
            <a:spAutoFit/>
          </a:bodyPr>
          <a:lstStyle/>
          <a:p>
            <a:pPr algn="ctr" marL="0" indent="0" lvl="0">
              <a:lnSpc>
                <a:spcPts val="7437"/>
              </a:lnSpc>
              <a:spcBef>
                <a:spcPct val="0"/>
              </a:spcBef>
            </a:pPr>
            <a:r>
              <a:rPr lang="en-US" b="true" sz="6197">
                <a:solidFill>
                  <a:srgbClr val="000000"/>
                </a:solidFill>
                <a:latin typeface="Dynapuff Condensed Bold"/>
                <a:ea typeface="Dynapuff Condensed Bold"/>
                <a:cs typeface="Dynapuff Condensed Bold"/>
                <a:sym typeface="Dynapuff Condensed Bold"/>
              </a:rPr>
              <a:t>LEA</a:t>
            </a:r>
            <a:r>
              <a:rPr lang="en-US" b="true" sz="6197" u="none">
                <a:solidFill>
                  <a:srgbClr val="000000"/>
                </a:solidFill>
                <a:latin typeface="Dynapuff Condensed Bold"/>
                <a:ea typeface="Dynapuff Condensed Bold"/>
                <a:cs typeface="Dynapuff Condensed Bold"/>
                <a:sym typeface="Dynapuff Condensed Bold"/>
              </a:rPr>
              <a:t>RNING OBJECTIVES</a:t>
            </a:r>
          </a:p>
        </p:txBody>
      </p:sp>
      <p:sp>
        <p:nvSpPr>
          <p:cNvPr name="Freeform 8" id="8"/>
          <p:cNvSpPr/>
          <p:nvPr/>
        </p:nvSpPr>
        <p:spPr>
          <a:xfrm flipH="false" flipV="false" rot="1175679">
            <a:off x="13557994" y="3820943"/>
            <a:ext cx="5015913" cy="4786100"/>
          </a:xfrm>
          <a:custGeom>
            <a:avLst/>
            <a:gdLst/>
            <a:ahLst/>
            <a:cxnLst/>
            <a:rect r="r" b="b" t="t" l="l"/>
            <a:pathLst>
              <a:path h="4786100" w="5015913">
                <a:moveTo>
                  <a:pt x="0" y="0"/>
                </a:moveTo>
                <a:lnTo>
                  <a:pt x="5015913" y="0"/>
                </a:lnTo>
                <a:lnTo>
                  <a:pt x="5015913" y="4786100"/>
                </a:lnTo>
                <a:lnTo>
                  <a:pt x="0" y="47861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9" id="9"/>
          <p:cNvSpPr/>
          <p:nvPr/>
        </p:nvSpPr>
        <p:spPr>
          <a:xfrm flipH="false" flipV="false" rot="1175679">
            <a:off x="8833327" y="4022190"/>
            <a:ext cx="4943940" cy="4717425"/>
          </a:xfrm>
          <a:custGeom>
            <a:avLst/>
            <a:gdLst/>
            <a:ahLst/>
            <a:cxnLst/>
            <a:rect r="r" b="b" t="t" l="l"/>
            <a:pathLst>
              <a:path h="4717425" w="4943940">
                <a:moveTo>
                  <a:pt x="0" y="0"/>
                </a:moveTo>
                <a:lnTo>
                  <a:pt x="4943940" y="0"/>
                </a:lnTo>
                <a:lnTo>
                  <a:pt x="4943940" y="4717424"/>
                </a:lnTo>
                <a:lnTo>
                  <a:pt x="0" y="471742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0" id="10"/>
          <p:cNvSpPr/>
          <p:nvPr/>
        </p:nvSpPr>
        <p:spPr>
          <a:xfrm flipH="false" flipV="false" rot="1175679">
            <a:off x="4183522" y="4171219"/>
            <a:ext cx="4631570" cy="4419367"/>
          </a:xfrm>
          <a:custGeom>
            <a:avLst/>
            <a:gdLst/>
            <a:ahLst/>
            <a:cxnLst/>
            <a:rect r="r" b="b" t="t" l="l"/>
            <a:pathLst>
              <a:path h="4419367" w="4631570">
                <a:moveTo>
                  <a:pt x="0" y="0"/>
                </a:moveTo>
                <a:lnTo>
                  <a:pt x="4631570" y="0"/>
                </a:lnTo>
                <a:lnTo>
                  <a:pt x="4631570" y="4419366"/>
                </a:lnTo>
                <a:lnTo>
                  <a:pt x="0" y="441936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1" id="11"/>
          <p:cNvSpPr txBox="true"/>
          <p:nvPr/>
        </p:nvSpPr>
        <p:spPr>
          <a:xfrm rot="0">
            <a:off x="14095213" y="5865926"/>
            <a:ext cx="4192787" cy="1108872"/>
          </a:xfrm>
          <a:prstGeom prst="rect">
            <a:avLst/>
          </a:prstGeom>
        </p:spPr>
        <p:txBody>
          <a:bodyPr anchor="t" rtlCol="false" tIns="0" lIns="0" bIns="0" rIns="0">
            <a:spAutoFit/>
          </a:bodyPr>
          <a:lstStyle/>
          <a:p>
            <a:pPr algn="l">
              <a:lnSpc>
                <a:spcPts val="2940"/>
              </a:lnSpc>
            </a:pPr>
            <a:r>
              <a:rPr lang="en-US" sz="2100">
                <a:solidFill>
                  <a:srgbClr val="000000"/>
                </a:solidFill>
                <a:latin typeface="Dynapuff SemiCondensed"/>
                <a:ea typeface="Dynapuff SemiCondensed"/>
                <a:cs typeface="Dynapuff SemiCondensed"/>
                <a:sym typeface="Dynapuff SemiCondensed"/>
              </a:rPr>
              <a:t>T</a:t>
            </a:r>
            <a:r>
              <a:rPr lang="en-US" sz="2100">
                <a:solidFill>
                  <a:srgbClr val="000000"/>
                </a:solidFill>
                <a:latin typeface="Dynapuff SemiCondensed"/>
                <a:ea typeface="Dynapuff SemiCondensed"/>
                <a:cs typeface="Dynapuff SemiCondensed"/>
                <a:sym typeface="Dynapuff SemiCondensed"/>
              </a:rPr>
              <a:t>o strengthen collaboration and problem-solving through group development.</a:t>
            </a:r>
          </a:p>
        </p:txBody>
      </p:sp>
      <p:sp>
        <p:nvSpPr>
          <p:cNvPr name="TextBox 12" id="12"/>
          <p:cNvSpPr txBox="true"/>
          <p:nvPr/>
        </p:nvSpPr>
        <p:spPr>
          <a:xfrm rot="0">
            <a:off x="9608342" y="5455704"/>
            <a:ext cx="3106035" cy="1647138"/>
          </a:xfrm>
          <a:prstGeom prst="rect">
            <a:avLst/>
          </a:prstGeom>
        </p:spPr>
        <p:txBody>
          <a:bodyPr anchor="t" rtlCol="false" tIns="0" lIns="0" bIns="0" rIns="0">
            <a:spAutoFit/>
          </a:bodyPr>
          <a:lstStyle/>
          <a:p>
            <a:pPr algn="l">
              <a:lnSpc>
                <a:spcPts val="3282"/>
              </a:lnSpc>
            </a:pPr>
            <a:r>
              <a:rPr lang="en-US" sz="2344">
                <a:solidFill>
                  <a:srgbClr val="000000"/>
                </a:solidFill>
                <a:latin typeface="Dynapuff SemiCondensed"/>
                <a:ea typeface="Dynapuff SemiCondensed"/>
                <a:cs typeface="Dynapuff SemiCondensed"/>
                <a:sym typeface="Dynapuff SemiCondensed"/>
              </a:rPr>
              <a:t>T</a:t>
            </a:r>
            <a:r>
              <a:rPr lang="en-US" sz="2344">
                <a:solidFill>
                  <a:srgbClr val="000000"/>
                </a:solidFill>
                <a:latin typeface="Dynapuff SemiCondensed"/>
                <a:ea typeface="Dynapuff SemiCondensed"/>
                <a:cs typeface="Dynapuff SemiCondensed"/>
                <a:sym typeface="Dynapuff SemiCondensed"/>
              </a:rPr>
              <a:t>o apply object-oriented programming and interface design concepts.</a:t>
            </a:r>
          </a:p>
        </p:txBody>
      </p:sp>
      <p:sp>
        <p:nvSpPr>
          <p:cNvPr name="TextBox 13" id="13"/>
          <p:cNvSpPr txBox="true"/>
          <p:nvPr/>
        </p:nvSpPr>
        <p:spPr>
          <a:xfrm rot="0">
            <a:off x="5020211" y="5629283"/>
            <a:ext cx="2914056" cy="1544116"/>
          </a:xfrm>
          <a:prstGeom prst="rect">
            <a:avLst/>
          </a:prstGeom>
        </p:spPr>
        <p:txBody>
          <a:bodyPr anchor="t" rtlCol="false" tIns="0" lIns="0" bIns="0" rIns="0">
            <a:spAutoFit/>
          </a:bodyPr>
          <a:lstStyle/>
          <a:p>
            <a:pPr algn="l">
              <a:lnSpc>
                <a:spcPts val="3079"/>
              </a:lnSpc>
            </a:pPr>
            <a:r>
              <a:rPr lang="en-US" sz="2199">
                <a:solidFill>
                  <a:srgbClr val="000000"/>
                </a:solidFill>
                <a:latin typeface="Dynapuff SemiCondensed"/>
                <a:ea typeface="Dynapuff SemiCondensed"/>
                <a:cs typeface="Dynapuff SemiCondensed"/>
                <a:sym typeface="Dynapuff SemiCondensed"/>
              </a:rPr>
              <a:t>T</a:t>
            </a:r>
            <a:r>
              <a:rPr lang="en-US" sz="2199">
                <a:solidFill>
                  <a:srgbClr val="000000"/>
                </a:solidFill>
                <a:latin typeface="Dynapuff SemiCondensed"/>
                <a:ea typeface="Dynapuff SemiCondensed"/>
                <a:cs typeface="Dynapuff SemiCondensed"/>
                <a:sym typeface="Dynapuff SemiCondensed"/>
              </a:rPr>
              <a:t>o develop a functional dictionary system with interactive features.</a:t>
            </a:r>
          </a:p>
        </p:txBody>
      </p:sp>
      <p:sp>
        <p:nvSpPr>
          <p:cNvPr name="Freeform 14" id="14"/>
          <p:cNvSpPr/>
          <p:nvPr/>
        </p:nvSpPr>
        <p:spPr>
          <a:xfrm flipH="false" flipV="true" rot="0">
            <a:off x="-250222" y="-103861"/>
            <a:ext cx="4114800" cy="4114800"/>
          </a:xfrm>
          <a:custGeom>
            <a:avLst/>
            <a:gdLst/>
            <a:ahLst/>
            <a:cxnLst/>
            <a:rect r="r" b="b" t="t" l="l"/>
            <a:pathLst>
              <a:path h="4114800" w="4114800">
                <a:moveTo>
                  <a:pt x="0" y="4114800"/>
                </a:moveTo>
                <a:lnTo>
                  <a:pt x="4114800" y="4114800"/>
                </a:lnTo>
                <a:lnTo>
                  <a:pt x="4114800" y="0"/>
                </a:lnTo>
                <a:lnTo>
                  <a:pt x="0" y="0"/>
                </a:lnTo>
                <a:lnTo>
                  <a:pt x="0" y="411480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5" id="15"/>
          <p:cNvSpPr/>
          <p:nvPr/>
        </p:nvSpPr>
        <p:spPr>
          <a:xfrm flipH="true" flipV="true" rot="0">
            <a:off x="14425139" y="0"/>
            <a:ext cx="4114800" cy="4114800"/>
          </a:xfrm>
          <a:custGeom>
            <a:avLst/>
            <a:gdLst/>
            <a:ahLst/>
            <a:cxnLst/>
            <a:rect r="r" b="b" t="t" l="l"/>
            <a:pathLst>
              <a:path h="4114800" w="4114800">
                <a:moveTo>
                  <a:pt x="4114800" y="4114800"/>
                </a:moveTo>
                <a:lnTo>
                  <a:pt x="0" y="4114800"/>
                </a:lnTo>
                <a:lnTo>
                  <a:pt x="0" y="0"/>
                </a:lnTo>
                <a:lnTo>
                  <a:pt x="4114800" y="0"/>
                </a:lnTo>
                <a:lnTo>
                  <a:pt x="4114800" y="411480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6" id="16"/>
          <p:cNvSpPr/>
          <p:nvPr/>
        </p:nvSpPr>
        <p:spPr>
          <a:xfrm flipH="false" flipV="false" rot="1175679">
            <a:off x="-218297" y="4004309"/>
            <a:ext cx="4631570" cy="4419367"/>
          </a:xfrm>
          <a:custGeom>
            <a:avLst/>
            <a:gdLst/>
            <a:ahLst/>
            <a:cxnLst/>
            <a:rect r="r" b="b" t="t" l="l"/>
            <a:pathLst>
              <a:path h="4419367" w="4631570">
                <a:moveTo>
                  <a:pt x="0" y="0"/>
                </a:moveTo>
                <a:lnTo>
                  <a:pt x="4631570" y="0"/>
                </a:lnTo>
                <a:lnTo>
                  <a:pt x="4631570" y="4419367"/>
                </a:lnTo>
                <a:lnTo>
                  <a:pt x="0" y="441936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7" id="17"/>
          <p:cNvSpPr txBox="true"/>
          <p:nvPr/>
        </p:nvSpPr>
        <p:spPr>
          <a:xfrm rot="0">
            <a:off x="647700" y="5425931"/>
            <a:ext cx="2547884" cy="1723754"/>
          </a:xfrm>
          <a:prstGeom prst="rect">
            <a:avLst/>
          </a:prstGeom>
        </p:spPr>
        <p:txBody>
          <a:bodyPr anchor="t" rtlCol="false" tIns="0" lIns="0" bIns="0" rIns="0">
            <a:spAutoFit/>
          </a:bodyPr>
          <a:lstStyle/>
          <a:p>
            <a:pPr algn="ctr">
              <a:lnSpc>
                <a:spcPts val="2732"/>
              </a:lnSpc>
              <a:spcBef>
                <a:spcPct val="0"/>
              </a:spcBef>
            </a:pPr>
            <a:r>
              <a:rPr lang="en-US" sz="2277">
                <a:solidFill>
                  <a:srgbClr val="000000"/>
                </a:solidFill>
                <a:latin typeface="Dynapuff Condensed"/>
                <a:ea typeface="Dynapuff Condensed"/>
                <a:cs typeface="Dynapuff Condensed"/>
                <a:sym typeface="Dynapuff Condensed"/>
              </a:rPr>
              <a:t>To make the app more engaging by adding features like the Word of the Day challenge.</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FFEFDA"/>
        </a:solidFill>
      </p:bgPr>
    </p:bg>
    <p:spTree>
      <p:nvGrpSpPr>
        <p:cNvPr id="1" name=""/>
        <p:cNvGrpSpPr/>
        <p:nvPr/>
      </p:nvGrpSpPr>
      <p:grpSpPr>
        <a:xfrm>
          <a:off x="0" y="0"/>
          <a:ext cx="0" cy="0"/>
          <a:chOff x="0" y="0"/>
          <a:chExt cx="0" cy="0"/>
        </a:xfrm>
      </p:grpSpPr>
      <p:sp>
        <p:nvSpPr>
          <p:cNvPr name="Freeform 2" id="2"/>
          <p:cNvSpPr/>
          <p:nvPr/>
        </p:nvSpPr>
        <p:spPr>
          <a:xfrm flipH="true" flipV="true" rot="0">
            <a:off x="12337292" y="-876300"/>
            <a:ext cx="6103108" cy="4114800"/>
          </a:xfrm>
          <a:custGeom>
            <a:avLst/>
            <a:gdLst/>
            <a:ahLst/>
            <a:cxnLst/>
            <a:rect r="r" b="b" t="t" l="l"/>
            <a:pathLst>
              <a:path h="4114800" w="6103108">
                <a:moveTo>
                  <a:pt x="6103108" y="4114800"/>
                </a:moveTo>
                <a:lnTo>
                  <a:pt x="0" y="4114800"/>
                </a:lnTo>
                <a:lnTo>
                  <a:pt x="0" y="0"/>
                </a:lnTo>
                <a:lnTo>
                  <a:pt x="6103108" y="0"/>
                </a:lnTo>
                <a:lnTo>
                  <a:pt x="6103108" y="411480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4407223" y="-302623"/>
            <a:ext cx="5040401" cy="4114800"/>
          </a:xfrm>
          <a:custGeom>
            <a:avLst/>
            <a:gdLst/>
            <a:ahLst/>
            <a:cxnLst/>
            <a:rect r="r" b="b" t="t" l="l"/>
            <a:pathLst>
              <a:path h="4114800" w="5040401">
                <a:moveTo>
                  <a:pt x="0" y="0"/>
                </a:moveTo>
                <a:lnTo>
                  <a:pt x="5040401" y="0"/>
                </a:lnTo>
                <a:lnTo>
                  <a:pt x="5040401"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826735" y="6747939"/>
            <a:ext cx="6103108" cy="4114800"/>
          </a:xfrm>
          <a:custGeom>
            <a:avLst/>
            <a:gdLst/>
            <a:ahLst/>
            <a:cxnLst/>
            <a:rect r="r" b="b" t="t" l="l"/>
            <a:pathLst>
              <a:path h="4114800" w="6103108">
                <a:moveTo>
                  <a:pt x="0" y="0"/>
                </a:moveTo>
                <a:lnTo>
                  <a:pt x="6103108" y="0"/>
                </a:lnTo>
                <a:lnTo>
                  <a:pt x="6103108"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410130" y="6114049"/>
            <a:ext cx="2369825" cy="2300885"/>
          </a:xfrm>
          <a:custGeom>
            <a:avLst/>
            <a:gdLst/>
            <a:ahLst/>
            <a:cxnLst/>
            <a:rect r="r" b="b" t="t" l="l"/>
            <a:pathLst>
              <a:path h="2300885" w="2369825">
                <a:moveTo>
                  <a:pt x="0" y="0"/>
                </a:moveTo>
                <a:lnTo>
                  <a:pt x="2369825" y="0"/>
                </a:lnTo>
                <a:lnTo>
                  <a:pt x="2369825" y="2300885"/>
                </a:lnTo>
                <a:lnTo>
                  <a:pt x="0" y="2300885"/>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0">
            <a:off x="2088210" y="738769"/>
            <a:ext cx="14111580" cy="8809462"/>
          </a:xfrm>
          <a:custGeom>
            <a:avLst/>
            <a:gdLst/>
            <a:ahLst/>
            <a:cxnLst/>
            <a:rect r="r" b="b" t="t" l="l"/>
            <a:pathLst>
              <a:path h="8809462" w="14111580">
                <a:moveTo>
                  <a:pt x="0" y="0"/>
                </a:moveTo>
                <a:lnTo>
                  <a:pt x="14111580" y="0"/>
                </a:lnTo>
                <a:lnTo>
                  <a:pt x="14111580" y="8809462"/>
                </a:lnTo>
                <a:lnTo>
                  <a:pt x="0" y="8809462"/>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7" id="7"/>
          <p:cNvSpPr txBox="true"/>
          <p:nvPr/>
        </p:nvSpPr>
        <p:spPr>
          <a:xfrm rot="0">
            <a:off x="3914115" y="3439340"/>
            <a:ext cx="11092077" cy="4311651"/>
          </a:xfrm>
          <a:prstGeom prst="rect">
            <a:avLst/>
          </a:prstGeom>
        </p:spPr>
        <p:txBody>
          <a:bodyPr anchor="t" rtlCol="false" tIns="0" lIns="0" bIns="0" rIns="0">
            <a:spAutoFit/>
          </a:bodyPr>
          <a:lstStyle/>
          <a:p>
            <a:pPr algn="just" marL="755646" indent="-377823" lvl="1">
              <a:lnSpc>
                <a:spcPts val="4899"/>
              </a:lnSpc>
              <a:buFont typeface="Arial"/>
              <a:buChar char="•"/>
            </a:pPr>
            <a:r>
              <a:rPr lang="en-US" sz="3499">
                <a:solidFill>
                  <a:srgbClr val="000000"/>
                </a:solidFill>
                <a:latin typeface="Dynapuff Condensed"/>
                <a:ea typeface="Dynapuff Condensed"/>
                <a:cs typeface="Dynapuff Condensed"/>
                <a:sym typeface="Dynapuff Condensed"/>
              </a:rPr>
              <a:t>A</a:t>
            </a:r>
            <a:r>
              <a:rPr lang="en-US" sz="3499">
                <a:solidFill>
                  <a:srgbClr val="000000"/>
                </a:solidFill>
                <a:latin typeface="Dynapuff Condensed"/>
                <a:ea typeface="Dynapuff Condensed"/>
                <a:cs typeface="Dynapuff Condensed"/>
                <a:sym typeface="Dynapuff Condensed"/>
              </a:rPr>
              <a:t> dictionary application that provides definitions, translations, and user engagement tools.</a:t>
            </a:r>
          </a:p>
          <a:p>
            <a:pPr algn="just" marL="755646" indent="-377823" lvl="1">
              <a:lnSpc>
                <a:spcPts val="4899"/>
              </a:lnSpc>
              <a:buFont typeface="Arial"/>
              <a:buChar char="•"/>
            </a:pPr>
            <a:r>
              <a:rPr lang="en-US" sz="3499">
                <a:solidFill>
                  <a:srgbClr val="000000"/>
                </a:solidFill>
                <a:latin typeface="Dynapuff Condensed"/>
                <a:ea typeface="Dynapuff Condensed"/>
                <a:cs typeface="Dynapuff Condensed"/>
                <a:sym typeface="Dynapuff Condensed"/>
              </a:rPr>
              <a:t>D</a:t>
            </a:r>
            <a:r>
              <a:rPr lang="en-US" sz="3499">
                <a:solidFill>
                  <a:srgbClr val="000000"/>
                </a:solidFill>
                <a:latin typeface="Dynapuff Condensed"/>
                <a:ea typeface="Dynapuff Condensed"/>
                <a:cs typeface="Dynapuff Condensed"/>
                <a:sym typeface="Dynapuff Condensed"/>
              </a:rPr>
              <a:t>eveloped to make word learning more interactive and organized.</a:t>
            </a:r>
          </a:p>
          <a:p>
            <a:pPr algn="just" marL="755646" indent="-377823" lvl="1">
              <a:lnSpc>
                <a:spcPts val="4899"/>
              </a:lnSpc>
              <a:buFont typeface="Arial"/>
              <a:buChar char="•"/>
            </a:pPr>
            <a:r>
              <a:rPr lang="en-US" sz="3499">
                <a:solidFill>
                  <a:srgbClr val="000000"/>
                </a:solidFill>
                <a:latin typeface="Dynapuff Condensed"/>
                <a:ea typeface="Dynapuff Condensed"/>
                <a:cs typeface="Dynapuff Condensed"/>
                <a:sym typeface="Dynapuff Condensed"/>
              </a:rPr>
              <a:t>Allows us</a:t>
            </a:r>
            <a:r>
              <a:rPr lang="en-US" sz="3499">
                <a:solidFill>
                  <a:srgbClr val="000000"/>
                </a:solidFill>
                <a:latin typeface="Dynapuff Condensed"/>
                <a:ea typeface="Dynapuff Condensed"/>
                <a:cs typeface="Dynapuff Condensed"/>
                <a:sym typeface="Dynapuff Condensed"/>
              </a:rPr>
              <a:t>ers to save words important to them for personalized learning</a:t>
            </a:r>
          </a:p>
          <a:p>
            <a:pPr algn="just">
              <a:lnSpc>
                <a:spcPts val="4899"/>
              </a:lnSpc>
            </a:pPr>
          </a:p>
        </p:txBody>
      </p:sp>
      <p:sp>
        <p:nvSpPr>
          <p:cNvPr name="TextBox 8" id="8"/>
          <p:cNvSpPr txBox="true"/>
          <p:nvPr/>
        </p:nvSpPr>
        <p:spPr>
          <a:xfrm rot="0">
            <a:off x="4924696" y="2467693"/>
            <a:ext cx="8438608" cy="770780"/>
          </a:xfrm>
          <a:prstGeom prst="rect">
            <a:avLst/>
          </a:prstGeom>
        </p:spPr>
        <p:txBody>
          <a:bodyPr anchor="t" rtlCol="false" tIns="0" lIns="0" bIns="0" rIns="0">
            <a:spAutoFit/>
          </a:bodyPr>
          <a:lstStyle/>
          <a:p>
            <a:pPr algn="ctr">
              <a:lnSpc>
                <a:spcPts val="5521"/>
              </a:lnSpc>
            </a:pPr>
            <a:r>
              <a:rPr lang="en-US" sz="6346" spc="63">
                <a:solidFill>
                  <a:srgbClr val="000000"/>
                </a:solidFill>
                <a:latin typeface="Dynapuff Condensed"/>
                <a:ea typeface="Dynapuff Condensed"/>
                <a:cs typeface="Dynapuff Condensed"/>
                <a:sym typeface="Dynapuff Condensed"/>
              </a:rPr>
              <a:t>OVE</a:t>
            </a:r>
            <a:r>
              <a:rPr lang="en-US" sz="6346" spc="63">
                <a:solidFill>
                  <a:srgbClr val="000000"/>
                </a:solidFill>
                <a:latin typeface="Dynapuff Condensed"/>
                <a:ea typeface="Dynapuff Condensed"/>
                <a:cs typeface="Dynapuff Condensed"/>
                <a:sym typeface="Dynapuff Condensed"/>
              </a:rPr>
              <a:t>RVIEW</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FFEFDA"/>
        </a:solidFill>
      </p:bgPr>
    </p:bg>
    <p:spTree>
      <p:nvGrpSpPr>
        <p:cNvPr id="1" name=""/>
        <p:cNvGrpSpPr/>
        <p:nvPr/>
      </p:nvGrpSpPr>
      <p:grpSpPr>
        <a:xfrm>
          <a:off x="0" y="0"/>
          <a:ext cx="0" cy="0"/>
          <a:chOff x="0" y="0"/>
          <a:chExt cx="0" cy="0"/>
        </a:xfrm>
      </p:grpSpPr>
      <p:sp>
        <p:nvSpPr>
          <p:cNvPr name="TextBox 2" id="2"/>
          <p:cNvSpPr txBox="true"/>
          <p:nvPr/>
        </p:nvSpPr>
        <p:spPr>
          <a:xfrm rot="0">
            <a:off x="3652626" y="1874136"/>
            <a:ext cx="10399079" cy="921592"/>
          </a:xfrm>
          <a:prstGeom prst="rect">
            <a:avLst/>
          </a:prstGeom>
        </p:spPr>
        <p:txBody>
          <a:bodyPr anchor="t" rtlCol="false" tIns="0" lIns="0" bIns="0" rIns="0">
            <a:spAutoFit/>
          </a:bodyPr>
          <a:lstStyle/>
          <a:p>
            <a:pPr algn="ctr" marL="0" indent="0" lvl="0">
              <a:lnSpc>
                <a:spcPts val="6694"/>
              </a:lnSpc>
              <a:spcBef>
                <a:spcPct val="0"/>
              </a:spcBef>
            </a:pPr>
            <a:r>
              <a:rPr lang="en-US" sz="7438">
                <a:solidFill>
                  <a:srgbClr val="000000"/>
                </a:solidFill>
                <a:latin typeface="Dynapuff Condensed"/>
                <a:ea typeface="Dynapuff Condensed"/>
                <a:cs typeface="Dynapuff Condensed"/>
                <a:sym typeface="Dynapuff Condensed"/>
              </a:rPr>
              <a:t>K</a:t>
            </a:r>
            <a:r>
              <a:rPr lang="en-US" sz="7438" strike="noStrike" u="none">
                <a:solidFill>
                  <a:srgbClr val="000000"/>
                </a:solidFill>
                <a:latin typeface="Dynapuff Condensed"/>
                <a:ea typeface="Dynapuff Condensed"/>
                <a:cs typeface="Dynapuff Condensed"/>
                <a:sym typeface="Dynapuff Condensed"/>
              </a:rPr>
              <a:t>EY FEATURES</a:t>
            </a:r>
          </a:p>
        </p:txBody>
      </p:sp>
      <p:sp>
        <p:nvSpPr>
          <p:cNvPr name="TextBox 3" id="3"/>
          <p:cNvSpPr txBox="true"/>
          <p:nvPr/>
        </p:nvSpPr>
        <p:spPr>
          <a:xfrm rot="0">
            <a:off x="2894760" y="3559534"/>
            <a:ext cx="14364540" cy="4034093"/>
          </a:xfrm>
          <a:prstGeom prst="rect">
            <a:avLst/>
          </a:prstGeom>
        </p:spPr>
        <p:txBody>
          <a:bodyPr anchor="t" rtlCol="false" tIns="0" lIns="0" bIns="0" rIns="0">
            <a:spAutoFit/>
          </a:bodyPr>
          <a:lstStyle/>
          <a:p>
            <a:pPr algn="l">
              <a:lnSpc>
                <a:spcPts val="5351"/>
              </a:lnSpc>
            </a:pPr>
          </a:p>
          <a:p>
            <a:pPr algn="l" marL="825278" indent="-412639" lvl="1">
              <a:lnSpc>
                <a:spcPts val="5351"/>
              </a:lnSpc>
              <a:buFont typeface="Arial"/>
              <a:buChar char="•"/>
            </a:pPr>
            <a:r>
              <a:rPr lang="en-US" sz="3822">
                <a:solidFill>
                  <a:srgbClr val="000000"/>
                </a:solidFill>
                <a:latin typeface="Dynapuff SemiCondensed"/>
                <a:ea typeface="Dynapuff SemiCondensed"/>
                <a:cs typeface="Dynapuff SemiCondensed"/>
                <a:sym typeface="Dynapuff SemiCondensed"/>
              </a:rPr>
              <a:t>Dictionary Core: Word search, language selection,  history log, Word Details Window, Browse Words, Add Custom Words</a:t>
            </a:r>
          </a:p>
          <a:p>
            <a:pPr algn="l" marL="825278" indent="-412639" lvl="1">
              <a:lnSpc>
                <a:spcPts val="5351"/>
              </a:lnSpc>
              <a:buFont typeface="Arial"/>
              <a:buChar char="•"/>
            </a:pPr>
            <a:r>
              <a:rPr lang="en-US" sz="3822">
                <a:solidFill>
                  <a:srgbClr val="000000"/>
                </a:solidFill>
                <a:latin typeface="Dynapuff SemiCondensed"/>
                <a:ea typeface="Dynapuff SemiCondensed"/>
                <a:cs typeface="Dynapuff SemiCondensed"/>
                <a:sym typeface="Dynapuff SemiCondensed"/>
              </a:rPr>
              <a:t>Utility: Sorting system, calendar/time tracking, Notes , Profile Window</a:t>
            </a:r>
          </a:p>
          <a:p>
            <a:pPr algn="l">
              <a:lnSpc>
                <a:spcPts val="5351"/>
              </a:lnSpc>
            </a:pPr>
          </a:p>
        </p:txBody>
      </p:sp>
      <p:sp>
        <p:nvSpPr>
          <p:cNvPr name="Freeform 4" id="4"/>
          <p:cNvSpPr/>
          <p:nvPr/>
        </p:nvSpPr>
        <p:spPr>
          <a:xfrm flipH="false" flipV="false" rot="0">
            <a:off x="0" y="6172200"/>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true" flipV="true" rot="0">
            <a:off x="14425139" y="0"/>
            <a:ext cx="4114800" cy="4114800"/>
          </a:xfrm>
          <a:custGeom>
            <a:avLst/>
            <a:gdLst/>
            <a:ahLst/>
            <a:cxnLst/>
            <a:rect r="r" b="b" t="t" l="l"/>
            <a:pathLst>
              <a:path h="4114800" w="4114800">
                <a:moveTo>
                  <a:pt x="4114800" y="4114800"/>
                </a:moveTo>
                <a:lnTo>
                  <a:pt x="0" y="4114800"/>
                </a:lnTo>
                <a:lnTo>
                  <a:pt x="0" y="0"/>
                </a:lnTo>
                <a:lnTo>
                  <a:pt x="4114800" y="0"/>
                </a:lnTo>
                <a:lnTo>
                  <a:pt x="4114800" y="4114800"/>
                </a:lnTo>
                <a:close/>
              </a:path>
            </a:pathLst>
          </a:custGeom>
          <a:blipFill>
            <a:blip r:embed="rId2">
              <a:extLst>
                <a:ext uri="{96DAC541-7B7A-43D3-8B79-37D633B846F1}">
                  <asvg:svgBlip xmlns:asvg="http://schemas.microsoft.com/office/drawing/2016/SVG/main" r:embed="rId3"/>
                </a:ext>
              </a:extLst>
            </a:blip>
            <a:stretch>
              <a:fillRect l="0" t="0" r="0" b="0"/>
            </a:stretch>
          </a:blipFill>
        </p:spPr>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FFEFDA"/>
        </a:solidFill>
      </p:bgPr>
    </p:bg>
    <p:spTree>
      <p:nvGrpSpPr>
        <p:cNvPr id="1" name=""/>
        <p:cNvGrpSpPr/>
        <p:nvPr/>
      </p:nvGrpSpPr>
      <p:grpSpPr>
        <a:xfrm>
          <a:off x="0" y="0"/>
          <a:ext cx="0" cy="0"/>
          <a:chOff x="0" y="0"/>
          <a:chExt cx="0" cy="0"/>
        </a:xfrm>
      </p:grpSpPr>
      <p:sp>
        <p:nvSpPr>
          <p:cNvPr name="TextBox 2" id="2"/>
          <p:cNvSpPr txBox="true"/>
          <p:nvPr/>
        </p:nvSpPr>
        <p:spPr>
          <a:xfrm rot="0">
            <a:off x="4744200" y="124998"/>
            <a:ext cx="8799600" cy="1000179"/>
          </a:xfrm>
          <a:prstGeom prst="rect">
            <a:avLst/>
          </a:prstGeom>
        </p:spPr>
        <p:txBody>
          <a:bodyPr anchor="t" rtlCol="false" tIns="0" lIns="0" bIns="0" rIns="0">
            <a:spAutoFit/>
          </a:bodyPr>
          <a:lstStyle/>
          <a:p>
            <a:pPr algn="ctr" marL="0" indent="0" lvl="0">
              <a:lnSpc>
                <a:spcPts val="7800"/>
              </a:lnSpc>
            </a:pPr>
            <a:r>
              <a:rPr lang="en-US" sz="6500">
                <a:solidFill>
                  <a:srgbClr val="000000"/>
                </a:solidFill>
                <a:latin typeface="Dynapuff Condensed"/>
                <a:ea typeface="Dynapuff Condensed"/>
                <a:cs typeface="Dynapuff Condensed"/>
                <a:sym typeface="Dynapuff Condensed"/>
              </a:rPr>
              <a:t> S</a:t>
            </a:r>
            <a:r>
              <a:rPr lang="en-US" sz="6500">
                <a:solidFill>
                  <a:srgbClr val="000000"/>
                </a:solidFill>
                <a:latin typeface="Dynapuff Condensed"/>
                <a:ea typeface="Dynapuff Condensed"/>
                <a:cs typeface="Dynapuff Condensed"/>
                <a:sym typeface="Dynapuff Condensed"/>
              </a:rPr>
              <a:t>YSTEM ARCHITECTURE</a:t>
            </a:r>
          </a:p>
        </p:txBody>
      </p:sp>
      <p:sp>
        <p:nvSpPr>
          <p:cNvPr name="Freeform 3" id="3"/>
          <p:cNvSpPr/>
          <p:nvPr/>
        </p:nvSpPr>
        <p:spPr>
          <a:xfrm flipH="false" flipV="false" rot="0">
            <a:off x="0" y="6172200"/>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true" flipV="true" rot="0">
            <a:off x="14425139" y="0"/>
            <a:ext cx="4114800" cy="4114800"/>
          </a:xfrm>
          <a:custGeom>
            <a:avLst/>
            <a:gdLst/>
            <a:ahLst/>
            <a:cxnLst/>
            <a:rect r="r" b="b" t="t" l="l"/>
            <a:pathLst>
              <a:path h="4114800" w="4114800">
                <a:moveTo>
                  <a:pt x="4114800" y="4114800"/>
                </a:moveTo>
                <a:lnTo>
                  <a:pt x="0" y="4114800"/>
                </a:lnTo>
                <a:lnTo>
                  <a:pt x="0" y="0"/>
                </a:lnTo>
                <a:lnTo>
                  <a:pt x="4114800" y="0"/>
                </a:lnTo>
                <a:lnTo>
                  <a:pt x="4114800" y="411480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3977030" y="1125177"/>
            <a:ext cx="10354970" cy="9099301"/>
          </a:xfrm>
          <a:custGeom>
            <a:avLst/>
            <a:gdLst/>
            <a:ahLst/>
            <a:cxnLst/>
            <a:rect r="r" b="b" t="t" l="l"/>
            <a:pathLst>
              <a:path h="9099301" w="10354970">
                <a:moveTo>
                  <a:pt x="0" y="0"/>
                </a:moveTo>
                <a:lnTo>
                  <a:pt x="10354970" y="0"/>
                </a:lnTo>
                <a:lnTo>
                  <a:pt x="10354970" y="9099301"/>
                </a:lnTo>
                <a:lnTo>
                  <a:pt x="0" y="9099301"/>
                </a:lnTo>
                <a:lnTo>
                  <a:pt x="0" y="0"/>
                </a:lnTo>
                <a:close/>
              </a:path>
            </a:pathLst>
          </a:custGeom>
          <a:blipFill>
            <a:blip r:embed="rId4"/>
            <a:stretch>
              <a:fillRect l="0" t="0" r="0" b="0"/>
            </a:stretch>
          </a:blipFill>
        </p:spPr>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FFEFDA"/>
        </a:solidFill>
      </p:bgPr>
    </p:bg>
    <p:spTree>
      <p:nvGrpSpPr>
        <p:cNvPr id="1" name=""/>
        <p:cNvGrpSpPr/>
        <p:nvPr/>
      </p:nvGrpSpPr>
      <p:grpSpPr>
        <a:xfrm>
          <a:off x="0" y="0"/>
          <a:ext cx="0" cy="0"/>
          <a:chOff x="0" y="0"/>
          <a:chExt cx="0" cy="0"/>
        </a:xfrm>
      </p:grpSpPr>
      <p:sp>
        <p:nvSpPr>
          <p:cNvPr name="Freeform 2" id="2"/>
          <p:cNvSpPr/>
          <p:nvPr/>
        </p:nvSpPr>
        <p:spPr>
          <a:xfrm flipH="false" flipV="false" rot="0">
            <a:off x="2224819" y="738769"/>
            <a:ext cx="14111580" cy="8809462"/>
          </a:xfrm>
          <a:custGeom>
            <a:avLst/>
            <a:gdLst/>
            <a:ahLst/>
            <a:cxnLst/>
            <a:rect r="r" b="b" t="t" l="l"/>
            <a:pathLst>
              <a:path h="8809462" w="14111580">
                <a:moveTo>
                  <a:pt x="0" y="0"/>
                </a:moveTo>
                <a:lnTo>
                  <a:pt x="14111580" y="0"/>
                </a:lnTo>
                <a:lnTo>
                  <a:pt x="14111580" y="8809462"/>
                </a:lnTo>
                <a:lnTo>
                  <a:pt x="0" y="880946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true" rot="0">
            <a:off x="12337292" y="-876300"/>
            <a:ext cx="6103108" cy="4114800"/>
          </a:xfrm>
          <a:custGeom>
            <a:avLst/>
            <a:gdLst/>
            <a:ahLst/>
            <a:cxnLst/>
            <a:rect r="r" b="b" t="t" l="l"/>
            <a:pathLst>
              <a:path h="4114800" w="6103108">
                <a:moveTo>
                  <a:pt x="6103108" y="4114800"/>
                </a:moveTo>
                <a:lnTo>
                  <a:pt x="0" y="4114800"/>
                </a:lnTo>
                <a:lnTo>
                  <a:pt x="0" y="0"/>
                </a:lnTo>
                <a:lnTo>
                  <a:pt x="6103108" y="0"/>
                </a:lnTo>
                <a:lnTo>
                  <a:pt x="6103108" y="411480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4407223" y="-302623"/>
            <a:ext cx="5040401" cy="4114800"/>
          </a:xfrm>
          <a:custGeom>
            <a:avLst/>
            <a:gdLst/>
            <a:ahLst/>
            <a:cxnLst/>
            <a:rect r="r" b="b" t="t" l="l"/>
            <a:pathLst>
              <a:path h="4114800" w="5040401">
                <a:moveTo>
                  <a:pt x="0" y="0"/>
                </a:moveTo>
                <a:lnTo>
                  <a:pt x="5040401" y="0"/>
                </a:lnTo>
                <a:lnTo>
                  <a:pt x="5040401" y="4114800"/>
                </a:lnTo>
                <a:lnTo>
                  <a:pt x="0" y="411480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826735" y="6747939"/>
            <a:ext cx="6103108" cy="4114800"/>
          </a:xfrm>
          <a:custGeom>
            <a:avLst/>
            <a:gdLst/>
            <a:ahLst/>
            <a:cxnLst/>
            <a:rect r="r" b="b" t="t" l="l"/>
            <a:pathLst>
              <a:path h="4114800" w="6103108">
                <a:moveTo>
                  <a:pt x="0" y="0"/>
                </a:moveTo>
                <a:lnTo>
                  <a:pt x="6103108" y="0"/>
                </a:lnTo>
                <a:lnTo>
                  <a:pt x="6103108"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0">
            <a:off x="410130" y="6114049"/>
            <a:ext cx="2369825" cy="2300885"/>
          </a:xfrm>
          <a:custGeom>
            <a:avLst/>
            <a:gdLst/>
            <a:ahLst/>
            <a:cxnLst/>
            <a:rect r="r" b="b" t="t" l="l"/>
            <a:pathLst>
              <a:path h="2300885" w="2369825">
                <a:moveTo>
                  <a:pt x="0" y="0"/>
                </a:moveTo>
                <a:lnTo>
                  <a:pt x="2369825" y="0"/>
                </a:lnTo>
                <a:lnTo>
                  <a:pt x="2369825" y="2300885"/>
                </a:lnTo>
                <a:lnTo>
                  <a:pt x="0" y="2300885"/>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7" id="7"/>
          <p:cNvSpPr txBox="true"/>
          <p:nvPr/>
        </p:nvSpPr>
        <p:spPr>
          <a:xfrm rot="0">
            <a:off x="3609592" y="1765930"/>
            <a:ext cx="10603125" cy="7053888"/>
          </a:xfrm>
          <a:prstGeom prst="rect">
            <a:avLst/>
          </a:prstGeom>
        </p:spPr>
        <p:txBody>
          <a:bodyPr anchor="t" rtlCol="false" tIns="0" lIns="0" bIns="0" rIns="0">
            <a:spAutoFit/>
          </a:bodyPr>
          <a:lstStyle/>
          <a:p>
            <a:pPr algn="ctr">
              <a:lnSpc>
                <a:spcPts val="11270"/>
              </a:lnSpc>
              <a:spcBef>
                <a:spcPct val="0"/>
              </a:spcBef>
            </a:pPr>
            <a:r>
              <a:rPr lang="en-US" sz="7513" spc="225">
                <a:solidFill>
                  <a:srgbClr val="000000"/>
                </a:solidFill>
                <a:latin typeface="Dynapuff Condensed"/>
                <a:ea typeface="Dynapuff Condensed"/>
                <a:cs typeface="Dynapuff Condensed"/>
                <a:sym typeface="Dynapuff Condensed"/>
              </a:rPr>
              <a:t>VIDEO </a:t>
            </a:r>
            <a:r>
              <a:rPr lang="en-US" sz="7513" spc="225">
                <a:solidFill>
                  <a:srgbClr val="000000"/>
                </a:solidFill>
                <a:latin typeface="Dynapuff Condensed"/>
                <a:ea typeface="Dynapuff Condensed"/>
                <a:cs typeface="Dynapuff Condensed"/>
                <a:sym typeface="Dynapuff Condensed"/>
              </a:rPr>
              <a:t>DEMO LINK:</a:t>
            </a:r>
          </a:p>
          <a:p>
            <a:pPr algn="ctr">
              <a:lnSpc>
                <a:spcPts val="11270"/>
              </a:lnSpc>
              <a:spcBef>
                <a:spcPct val="0"/>
              </a:spcBef>
            </a:pPr>
            <a:r>
              <a:rPr lang="en-US" sz="7513" spc="225">
                <a:solidFill>
                  <a:srgbClr val="000000"/>
                </a:solidFill>
                <a:latin typeface="Dynapuff Condensed"/>
                <a:ea typeface="Dynapuff Condensed"/>
                <a:cs typeface="Dynapuff Condensed"/>
                <a:sym typeface="Dynapuff Condensed"/>
              </a:rPr>
              <a:t>https://drive.google.com/drive/folders/1nWIGEQhp0OjXrOaZHgLyJP65wL9gZGjS </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FFEFDA"/>
        </a:solidFill>
      </p:bgPr>
    </p:bg>
    <p:spTree>
      <p:nvGrpSpPr>
        <p:cNvPr id="1" name=""/>
        <p:cNvGrpSpPr/>
        <p:nvPr/>
      </p:nvGrpSpPr>
      <p:grpSpPr>
        <a:xfrm>
          <a:off x="0" y="0"/>
          <a:ext cx="0" cy="0"/>
          <a:chOff x="0" y="0"/>
          <a:chExt cx="0" cy="0"/>
        </a:xfrm>
      </p:grpSpPr>
      <p:sp>
        <p:nvSpPr>
          <p:cNvPr name="TextBox 2" id="2"/>
          <p:cNvSpPr txBox="true"/>
          <p:nvPr/>
        </p:nvSpPr>
        <p:spPr>
          <a:xfrm rot="0">
            <a:off x="5073816" y="3975664"/>
            <a:ext cx="8688208" cy="3601917"/>
          </a:xfrm>
          <a:prstGeom prst="rect">
            <a:avLst/>
          </a:prstGeom>
        </p:spPr>
        <p:txBody>
          <a:bodyPr anchor="t" rtlCol="false" tIns="0" lIns="0" bIns="0" rIns="0">
            <a:spAutoFit/>
          </a:bodyPr>
          <a:lstStyle/>
          <a:p>
            <a:pPr algn="ctr" marL="0" indent="0" lvl="0">
              <a:lnSpc>
                <a:spcPts val="13373"/>
              </a:lnSpc>
            </a:pPr>
            <a:r>
              <a:rPr lang="en-US" sz="16716" spc="501">
                <a:solidFill>
                  <a:srgbClr val="000000"/>
                </a:solidFill>
                <a:latin typeface="Dynapuff Condensed"/>
                <a:ea typeface="Dynapuff Condensed"/>
                <a:cs typeface="Dynapuff Condensed"/>
                <a:sym typeface="Dynapuff Condensed"/>
              </a:rPr>
              <a:t>THANK YOU</a:t>
            </a:r>
          </a:p>
        </p:txBody>
      </p:sp>
      <p:sp>
        <p:nvSpPr>
          <p:cNvPr name="Freeform 3" id="3"/>
          <p:cNvSpPr/>
          <p:nvPr/>
        </p:nvSpPr>
        <p:spPr>
          <a:xfrm flipH="false" flipV="false" rot="0">
            <a:off x="-664261" y="6677503"/>
            <a:ext cx="6103108" cy="4114800"/>
          </a:xfrm>
          <a:custGeom>
            <a:avLst/>
            <a:gdLst/>
            <a:ahLst/>
            <a:cxnLst/>
            <a:rect r="r" b="b" t="t" l="l"/>
            <a:pathLst>
              <a:path h="4114800" w="6103108">
                <a:moveTo>
                  <a:pt x="0" y="0"/>
                </a:moveTo>
                <a:lnTo>
                  <a:pt x="6103109" y="0"/>
                </a:lnTo>
                <a:lnTo>
                  <a:pt x="6103109"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true" flipV="true" rot="0">
            <a:off x="12184892" y="-1028700"/>
            <a:ext cx="6103108" cy="4114800"/>
          </a:xfrm>
          <a:custGeom>
            <a:avLst/>
            <a:gdLst/>
            <a:ahLst/>
            <a:cxnLst/>
            <a:rect r="r" b="b" t="t" l="l"/>
            <a:pathLst>
              <a:path h="4114800" w="6103108">
                <a:moveTo>
                  <a:pt x="6103108" y="4114800"/>
                </a:moveTo>
                <a:lnTo>
                  <a:pt x="0" y="4114800"/>
                </a:lnTo>
                <a:lnTo>
                  <a:pt x="0" y="0"/>
                </a:lnTo>
                <a:lnTo>
                  <a:pt x="6103108" y="0"/>
                </a:lnTo>
                <a:lnTo>
                  <a:pt x="6103108" y="411480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14254823" y="-455023"/>
            <a:ext cx="5040401" cy="4114800"/>
          </a:xfrm>
          <a:custGeom>
            <a:avLst/>
            <a:gdLst/>
            <a:ahLst/>
            <a:cxnLst/>
            <a:rect r="r" b="b" t="t" l="l"/>
            <a:pathLst>
              <a:path h="4114800" w="5040401">
                <a:moveTo>
                  <a:pt x="0" y="0"/>
                </a:moveTo>
                <a:lnTo>
                  <a:pt x="5040401" y="0"/>
                </a:lnTo>
                <a:lnTo>
                  <a:pt x="5040401"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0">
            <a:off x="572605" y="6043612"/>
            <a:ext cx="2369825" cy="2300885"/>
          </a:xfrm>
          <a:custGeom>
            <a:avLst/>
            <a:gdLst/>
            <a:ahLst/>
            <a:cxnLst/>
            <a:rect r="r" b="b" t="t" l="l"/>
            <a:pathLst>
              <a:path h="2300885" w="2369825">
                <a:moveTo>
                  <a:pt x="0" y="0"/>
                </a:moveTo>
                <a:lnTo>
                  <a:pt x="2369825" y="0"/>
                </a:lnTo>
                <a:lnTo>
                  <a:pt x="2369825" y="2300885"/>
                </a:lnTo>
                <a:lnTo>
                  <a:pt x="0" y="2300885"/>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7" id="7"/>
          <p:cNvSpPr/>
          <p:nvPr/>
        </p:nvSpPr>
        <p:spPr>
          <a:xfrm flipH="false" flipV="true" rot="0">
            <a:off x="0" y="0"/>
            <a:ext cx="4114800" cy="4114800"/>
          </a:xfrm>
          <a:custGeom>
            <a:avLst/>
            <a:gdLst/>
            <a:ahLst/>
            <a:cxnLst/>
            <a:rect r="r" b="b" t="t" l="l"/>
            <a:pathLst>
              <a:path h="4114800" w="4114800">
                <a:moveTo>
                  <a:pt x="0" y="4114800"/>
                </a:moveTo>
                <a:lnTo>
                  <a:pt x="4114800" y="4114800"/>
                </a:lnTo>
                <a:lnTo>
                  <a:pt x="4114800" y="0"/>
                </a:lnTo>
                <a:lnTo>
                  <a:pt x="0" y="0"/>
                </a:lnTo>
                <a:lnTo>
                  <a:pt x="0" y="411480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8" id="8"/>
          <p:cNvSpPr/>
          <p:nvPr/>
        </p:nvSpPr>
        <p:spPr>
          <a:xfrm flipH="true" flipV="false" rot="0">
            <a:off x="14173200" y="6287097"/>
            <a:ext cx="4114800" cy="4114800"/>
          </a:xfrm>
          <a:custGeom>
            <a:avLst/>
            <a:gdLst/>
            <a:ahLst/>
            <a:cxnLst/>
            <a:rect r="r" b="b" t="t" l="l"/>
            <a:pathLst>
              <a:path h="4114800" w="4114800">
                <a:moveTo>
                  <a:pt x="4114800" y="0"/>
                </a:moveTo>
                <a:lnTo>
                  <a:pt x="0" y="0"/>
                </a:lnTo>
                <a:lnTo>
                  <a:pt x="0" y="4114800"/>
                </a:lnTo>
                <a:lnTo>
                  <a:pt x="4114800" y="4114800"/>
                </a:lnTo>
                <a:lnTo>
                  <a:pt x="411480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DAG4himnfuM</dc:identifier>
  <dcterms:modified xsi:type="dcterms:W3CDTF">2011-08-01T06:04:30Z</dcterms:modified>
  <cp:revision>1</cp:revision>
  <dc:title>Presented by: Lester Anastacio jason Alcantara Gabriel Avila Kerwin Catungal</dc:title>
</cp:coreProperties>
</file>